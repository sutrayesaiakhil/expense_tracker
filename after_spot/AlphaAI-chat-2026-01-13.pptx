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828800"/>
            <a:ext cx="7863840" cy="1371600"/>
          </a:xfrm>
          <a:prstGeom prst="rect">
            <a:avLst/>
          </a:prstGeom>
          <a:noFill/>
          <a:ln/>
        </p:spPr>
        <p:txBody>
          <a:bodyPr wrap="square" rtlCol="0" anchor="ctr"/>
          <a:lstStyle/>
          <a:p>
            <a:pPr algn="ctr" indent="0" marL="0">
              <a:buNone/>
            </a:pPr>
            <a:r>
              <a:rPr lang="en-US" sz="4000" b="1" dirty="0">
                <a:solidFill>
                  <a:srgbClr val="1C2434"/>
                </a:solidFill>
              </a:rPr>
              <a:t>Side Letters Chat</a:t>
            </a:r>
            <a:endParaRPr lang="en-US" sz="4000" dirty="0"/>
          </a:p>
        </p:txBody>
      </p:sp>
      <p:sp>
        <p:nvSpPr>
          <p:cNvPr id="3" name="Text 1"/>
          <p:cNvSpPr/>
          <p:nvPr/>
        </p:nvSpPr>
        <p:spPr>
          <a:xfrm>
            <a:off x="640080" y="3200400"/>
            <a:ext cx="7863840" cy="0"/>
          </a:xfrm>
          <a:prstGeom prst="rect">
            <a:avLst/>
          </a:prstGeom>
          <a:noFill/>
          <a:ln/>
        </p:spPr>
        <p:txBody>
          <a:bodyPr wrap="square" rtlCol="0" anchor="ctr"/>
          <a:lstStyle/>
          <a:p>
            <a:pPr algn="ctr" indent="0" marL="0">
              <a:buNone/>
            </a:pPr>
            <a:r>
              <a:rPr lang="en-US" sz="1600" dirty="0">
                <a:solidFill>
                  <a:srgbClr val="6B7280"/>
                </a:solidFill>
              </a:rPr>
              <a:t>Exported: 1/13/2026, 4:03:37 PM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3" name="Text 1"/>
          <p:cNvSpPr/>
          <p:nvPr/>
        </p:nvSpPr>
        <p:spPr>
          <a:xfrm>
            <a:off x="731520" y="630936"/>
            <a:ext cx="7772400" cy="0"/>
          </a:xfrm>
          <a:prstGeom prst="rect">
            <a:avLst/>
          </a:prstGeom>
          <a:noFill/>
          <a:ln/>
        </p:spPr>
        <p:txBody>
          <a:bodyPr wrap="square" rtlCol="0" anchor="ctr"/>
          <a:lstStyle/>
          <a:p>
            <a:pPr indent="0" marL="0">
              <a:buNone/>
            </a:pPr>
            <a:r>
              <a:rPr lang="en-US" sz="800" dirty="0">
                <a:solidFill>
                  <a:srgbClr val="6B7280"/>
                </a:solidFill>
              </a:rPr>
              <a:t>1/13/2026, 3:05:24 PM</a:t>
            </a:r>
            <a:endParaRPr lang="en-US" sz="800" dirty="0"/>
          </a:p>
        </p:txBody>
      </p:sp>
      <p:sp>
        <p:nvSpPr>
          <p:cNvPr id="4" name="Text 2"/>
          <p:cNvSpPr/>
          <p:nvPr/>
        </p:nvSpPr>
        <p:spPr>
          <a:xfrm>
            <a:off x="640080" y="896112"/>
            <a:ext cx="7863840" cy="0"/>
          </a:xfrm>
          <a:prstGeom prst="rect">
            <a:avLst/>
          </a:prstGeom>
          <a:noFill/>
          <a:ln/>
        </p:spPr>
        <p:txBody>
          <a:bodyPr wrap="square" rtlCol="0" anchor="ctr"/>
          <a:lstStyle/>
          <a:p>
            <a:pPr indent="0" marL="0">
              <a:buNone/>
            </a:pPr>
            <a:r>
              <a:rPr lang="en-US" sz="1000" dirty="0">
                <a:solidFill>
                  <a:srgbClr val="1C2434"/>
                </a:solidFill>
              </a:rPr>
              <a:t>which of these side letters contain a provision restricting munitions</a:t>
            </a:r>
            <a:endParaRPr lang="en-US" sz="1000" dirty="0"/>
          </a:p>
        </p:txBody>
      </p:sp>
      <p:sp>
        <p:nvSpPr>
          <p:cNvPr id="5" name="Text 3"/>
          <p:cNvSpPr/>
          <p:nvPr/>
        </p:nvSpPr>
        <p:spPr>
          <a:xfrm>
            <a:off x="731520" y="1729313"/>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6" name="Text 4"/>
          <p:cNvSpPr/>
          <p:nvPr/>
        </p:nvSpPr>
        <p:spPr>
          <a:xfrm>
            <a:off x="731520" y="1994489"/>
            <a:ext cx="7772400" cy="0"/>
          </a:xfrm>
          <a:prstGeom prst="rect">
            <a:avLst/>
          </a:prstGeom>
          <a:noFill/>
          <a:ln/>
        </p:spPr>
        <p:txBody>
          <a:bodyPr wrap="square" rtlCol="0" anchor="ctr"/>
          <a:lstStyle/>
          <a:p>
            <a:pPr indent="0" marL="0">
              <a:buNone/>
            </a:pPr>
            <a:r>
              <a:rPr lang="en-US" sz="800" dirty="0">
                <a:solidFill>
                  <a:srgbClr val="6B7280"/>
                </a:solidFill>
              </a:rPr>
              <a:t>1/13/2026, 3:05:45 PM</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296241"/>
          <a:ext cx="7863840" cy="914400"/>
        </p:xfrm>
        <a:graphic>
          <a:graphicData uri="http://schemas.openxmlformats.org/drawingml/2006/table">
            <a:tbl>
              <a:tblPr/>
              <a:tblGrid>
                <a:gridCol w="5758329"/>
                <a:gridCol w="2105511"/>
              </a:tblGrid>
              <a:tr h="0">
                <a:tc>
                  <a:txBody>
                    <a:bodyPr/>
                    <a:lstStyle/>
                    <a:p>
                      <a:pPr indent="0" marL="0">
                        <a:buNone/>
                      </a:pPr>
                      <a:r>
                        <a:rPr lang="en-US" sz="700" b="1" dirty="0">
                          <a:solidFill>
                            <a:srgbClr val="FFFFFF"/>
                          </a:solidFill>
                        </a:rPr>
                        <a:t>Metric</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Value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Documents with munitions restrictions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Coverage</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100%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640080" y="3137489"/>
            <a:ext cx="7863840" cy="0"/>
          </a:xfrm>
          <a:prstGeom prst="rect">
            <a:avLst/>
          </a:prstGeom>
          <a:noFill/>
          <a:ln/>
        </p:spPr>
        <p:txBody>
          <a:bodyPr wrap="square" rtlCol="0" anchor="ctr"/>
          <a:lstStyle/>
          <a:p>
            <a:pPr indent="0" marL="0">
              <a:buNone/>
            </a:pPr>
            <a:r>
              <a:rPr lang="en-US" sz="1000" dirty="0">
                <a:solidFill>
                  <a:srgbClr val="1C2434"/>
                </a:solidFill>
              </a:rPr>
              <a:t>Note: The search confirmed 36 side letters contain provisions restricting munitions, but the detailed list of specific documents was not returned in the results.</a:t>
            </a:r>
            <a:endParaRPr lang="en-US" sz="1000" dirty="0"/>
          </a:p>
        </p:txBody>
      </p:sp>
      <p:sp>
        <p:nvSpPr>
          <p:cNvPr id="9" name="Text 6"/>
          <p:cNvSpPr/>
          <p:nvPr/>
        </p:nvSpPr>
        <p:spPr>
          <a:xfrm>
            <a:off x="731520" y="4503969"/>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10" name="Text 7"/>
          <p:cNvSpPr/>
          <p:nvPr/>
        </p:nvSpPr>
        <p:spPr>
          <a:xfrm>
            <a:off x="731520" y="4769145"/>
            <a:ext cx="7772400" cy="0"/>
          </a:xfrm>
          <a:prstGeom prst="rect">
            <a:avLst/>
          </a:prstGeom>
          <a:noFill/>
          <a:ln/>
        </p:spPr>
        <p:txBody>
          <a:bodyPr wrap="square" rtlCol="0" anchor="ctr"/>
          <a:lstStyle/>
          <a:p>
            <a:pPr indent="0" marL="0">
              <a:buNone/>
            </a:pPr>
            <a:r>
              <a:rPr lang="en-US" sz="800" dirty="0">
                <a:solidFill>
                  <a:srgbClr val="6B7280"/>
                </a:solidFill>
              </a:rPr>
              <a:t>1/13/2026, 3:06:06 PM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which of these side letters contain an investment restriction provisions for munitions</a:t>
            </a:r>
            <a:endParaRPr lang="en-US" sz="1000" dirty="0"/>
          </a:p>
        </p:txBody>
      </p:sp>
      <p:sp>
        <p:nvSpPr>
          <p:cNvPr id="3" name="Text 1"/>
          <p:cNvSpPr/>
          <p:nvPr/>
        </p:nvSpPr>
        <p:spPr>
          <a:xfrm>
            <a:off x="731520" y="1198961"/>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4" name="Text 2"/>
          <p:cNvSpPr/>
          <p:nvPr/>
        </p:nvSpPr>
        <p:spPr>
          <a:xfrm>
            <a:off x="731520" y="1464137"/>
            <a:ext cx="7772400" cy="0"/>
          </a:xfrm>
          <a:prstGeom prst="rect">
            <a:avLst/>
          </a:prstGeom>
          <a:noFill/>
          <a:ln/>
        </p:spPr>
        <p:txBody>
          <a:bodyPr wrap="square" rtlCol="0" anchor="ctr"/>
          <a:lstStyle/>
          <a:p>
            <a:pPr indent="0" marL="0">
              <a:buNone/>
            </a:pPr>
            <a:r>
              <a:rPr lang="en-US" sz="800" dirty="0">
                <a:solidFill>
                  <a:srgbClr val="6B7280"/>
                </a:solidFill>
              </a:rPr>
              <a:t>1/13/2026, 3:06:37 PM</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765889"/>
          <a:ext cx="7863840" cy="914400"/>
        </p:xfrm>
        <a:graphic>
          <a:graphicData uri="http://schemas.openxmlformats.org/drawingml/2006/table">
            <a:tbl>
              <a:tblPr/>
              <a:tblGrid>
                <a:gridCol w="6097147"/>
                <a:gridCol w="1766693"/>
              </a:tblGrid>
              <a:tr h="0">
                <a:tc>
                  <a:txBody>
                    <a:bodyPr/>
                    <a:lstStyle/>
                    <a:p>
                      <a:pPr indent="0" marL="0">
                        <a:buNone/>
                      </a:pPr>
                      <a:r>
                        <a:rPr lang="en-US" sz="700" b="1" dirty="0">
                          <a:solidFill>
                            <a:srgbClr val="FFFFFF"/>
                          </a:solidFill>
                        </a:rPr>
                        <a:t>Metric</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Value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Documents with munitions investment restrictions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Items returned in results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2705892"/>
            <a:ext cx="7863840" cy="0"/>
          </a:xfrm>
          <a:prstGeom prst="rect">
            <a:avLst/>
          </a:prstGeom>
          <a:noFill/>
          <a:ln/>
        </p:spPr>
        <p:txBody>
          <a:bodyPr wrap="square" rtlCol="0" anchor="ctr"/>
          <a:lstStyle/>
          <a:p>
            <a:pPr indent="0" marL="0">
              <a:buNone/>
            </a:pPr>
            <a:r>
              <a:rPr lang="en-US" sz="1000" dirty="0">
                <a:solidFill>
                  <a:srgbClr val="1C2434"/>
                </a:solidFill>
              </a:rPr>
              <a:t>The search confirms 36 side letters contain investment restriction provisions for munitions, but the specific document names were not returned in the search results.</a:t>
            </a:r>
            <a:endParaRPr lang="en-US" sz="1000" dirty="0"/>
          </a:p>
        </p:txBody>
      </p:sp>
      <p:sp>
        <p:nvSpPr>
          <p:cNvPr id="7" name="Text 4"/>
          <p:cNvSpPr/>
          <p:nvPr/>
        </p:nvSpPr>
        <p:spPr>
          <a:xfrm>
            <a:off x="640080" y="3916924"/>
            <a:ext cx="7863840" cy="0"/>
          </a:xfrm>
          <a:prstGeom prst="rect">
            <a:avLst/>
          </a:prstGeom>
          <a:noFill/>
          <a:ln/>
        </p:spPr>
        <p:txBody>
          <a:bodyPr wrap="square" rtlCol="0" anchor="ctr"/>
          <a:lstStyle/>
          <a:p>
            <a:pPr indent="0" marL="0">
              <a:buNone/>
            </a:pPr>
            <a:r>
              <a:rPr lang="en-US" sz="1000" dirty="0">
                <a:solidFill>
                  <a:srgbClr val="1C2434"/>
                </a:solidFill>
              </a:rPr>
              <a:t>To provide the detailed list of which specific side letters contain these provisions, I would need to run an additional search or the tool would need to return the individual document details.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3" name="Text 1"/>
          <p:cNvSpPr/>
          <p:nvPr/>
        </p:nvSpPr>
        <p:spPr>
          <a:xfrm>
            <a:off x="731520" y="630936"/>
            <a:ext cx="7772400" cy="0"/>
          </a:xfrm>
          <a:prstGeom prst="rect">
            <a:avLst/>
          </a:prstGeom>
          <a:noFill/>
          <a:ln/>
        </p:spPr>
        <p:txBody>
          <a:bodyPr wrap="square" rtlCol="0" anchor="ctr"/>
          <a:lstStyle/>
          <a:p>
            <a:pPr indent="0" marL="0">
              <a:buNone/>
            </a:pPr>
            <a:r>
              <a:rPr lang="en-US" sz="800" dirty="0">
                <a:solidFill>
                  <a:srgbClr val="6B7280"/>
                </a:solidFill>
              </a:rPr>
              <a:t>1/13/2026, 3:06:54 PM</a:t>
            </a:r>
            <a:endParaRPr lang="en-US" sz="800" dirty="0"/>
          </a:p>
        </p:txBody>
      </p:sp>
      <p:sp>
        <p:nvSpPr>
          <p:cNvPr id="4" name="Text 2"/>
          <p:cNvSpPr/>
          <p:nvPr/>
        </p:nvSpPr>
        <p:spPr>
          <a:xfrm>
            <a:off x="640080" y="896112"/>
            <a:ext cx="7863840" cy="0"/>
          </a:xfrm>
          <a:prstGeom prst="rect">
            <a:avLst/>
          </a:prstGeom>
          <a:noFill/>
          <a:ln/>
        </p:spPr>
        <p:txBody>
          <a:bodyPr wrap="square" rtlCol="0" anchor="ctr"/>
          <a:lstStyle/>
          <a:p>
            <a:pPr indent="0" marL="0">
              <a:buNone/>
            </a:pPr>
            <a:r>
              <a:rPr lang="en-US" sz="1000" dirty="0">
                <a:solidFill>
                  <a:srgbClr val="1C2434"/>
                </a:solidFill>
              </a:rPr>
              <a:t>If i ask a question regarding side letters, how many documents will you analyze</a:t>
            </a:r>
            <a:endParaRPr lang="en-US" sz="1000" dirty="0"/>
          </a:p>
        </p:txBody>
      </p:sp>
      <p:sp>
        <p:nvSpPr>
          <p:cNvPr id="5" name="Text 3"/>
          <p:cNvSpPr/>
          <p:nvPr/>
        </p:nvSpPr>
        <p:spPr>
          <a:xfrm>
            <a:off x="731520" y="1907073"/>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6" name="Text 4"/>
          <p:cNvSpPr/>
          <p:nvPr/>
        </p:nvSpPr>
        <p:spPr>
          <a:xfrm>
            <a:off x="731520" y="2172249"/>
            <a:ext cx="7772400" cy="0"/>
          </a:xfrm>
          <a:prstGeom prst="rect">
            <a:avLst/>
          </a:prstGeom>
          <a:noFill/>
          <a:ln/>
        </p:spPr>
        <p:txBody>
          <a:bodyPr wrap="square" rtlCol="0" anchor="ctr"/>
          <a:lstStyle/>
          <a:p>
            <a:pPr indent="0" marL="0">
              <a:buNone/>
            </a:pPr>
            <a:r>
              <a:rPr lang="en-US" sz="800" dirty="0">
                <a:solidFill>
                  <a:srgbClr val="6B7280"/>
                </a:solidFill>
              </a:rPr>
              <a:t>1/13/2026, 3:07:04 PM</a:t>
            </a:r>
            <a:endParaRPr lang="en-US" sz="800" dirty="0"/>
          </a:p>
        </p:txBody>
      </p:sp>
      <p:sp>
        <p:nvSpPr>
          <p:cNvPr id="7" name="Text 5"/>
          <p:cNvSpPr/>
          <p:nvPr/>
        </p:nvSpPr>
        <p:spPr>
          <a:xfrm>
            <a:off x="640080" y="2437425"/>
            <a:ext cx="7863840" cy="0"/>
          </a:xfrm>
          <a:prstGeom prst="rect">
            <a:avLst/>
          </a:prstGeom>
          <a:noFill/>
          <a:ln/>
        </p:spPr>
        <p:txBody>
          <a:bodyPr wrap="square" rtlCol="0" anchor="ctr"/>
          <a:lstStyle/>
          <a:p>
            <a:pPr indent="0" marL="0">
              <a:buNone/>
            </a:pPr>
            <a:r>
              <a:rPr lang="en-US" sz="1000" dirty="0">
                <a:solidFill>
                  <a:srgbClr val="1C2434"/>
                </a:solidFill>
              </a:rPr>
              <a:t>I don't have a predetermined number of documents to analyze. The number depends 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22960" y="365760"/>
            <a:ext cx="7680960" cy="0"/>
          </a:xfrm>
          <a:prstGeom prst="rect">
            <a:avLst/>
          </a:prstGeom>
          <a:noFill/>
          <a:ln/>
        </p:spPr>
        <p:txBody>
          <a:bodyPr wrap="square" rtlCol="0" anchor="ctr"/>
          <a:lstStyle/>
          <a:p>
            <a:pPr marL="342900" indent="-342900">
              <a:buSzPct val="100000"/>
              <a:buFont typeface="+mj-lt"/>
              <a:buAutoNum type="arabicPeriod" startAt="1"/>
            </a:pPr>
            <a:r>
              <a:rPr lang="en-US" sz="1000" dirty="0">
                <a:solidFill>
                  <a:srgbClr val="1C2434"/>
                </a:solidFill>
              </a:rPr>
              <a:t>Your specific query - What you're searching for determines which documents are relevant</a:t>
            </a:r>
            <a:pPr indent="0" marL="0">
              <a:buNone/>
            </a:pPr>
            <a:r>
              <a:rPr lang="en-US" sz="1000" dirty="0">
                <a:solidFill>
                  <a:srgbClr val="1C2434"/>
                </a:solidFill>
              </a:rPr>
              <a:t>The tool's search scope - When I use the search tools, they return results from the available document corpus</a:t>
            </a:r>
            <a:pPr indent="0" marL="0">
              <a:buNone/>
            </a:pPr>
            <a:r>
              <a:rPr lang="en-US" sz="1000" dirty="0">
                <a:solidFill>
                  <a:srgbClr val="1C2434"/>
                </a:solidFill>
              </a:rPr>
              <a:t>Your document collection - The total documents indexed in the system</a:t>
            </a:r>
            <a:endParaRPr lang="en-US" sz="1000" dirty="0"/>
          </a:p>
        </p:txBody>
      </p:sp>
      <p:sp>
        <p:nvSpPr>
          <p:cNvPr id="3" name="Text 1"/>
          <p:cNvSpPr/>
          <p:nvPr/>
        </p:nvSpPr>
        <p:spPr>
          <a:xfrm>
            <a:off x="640080" y="2681387"/>
            <a:ext cx="7863840" cy="0"/>
          </a:xfrm>
          <a:prstGeom prst="rect">
            <a:avLst/>
          </a:prstGeom>
          <a:noFill/>
          <a:ln/>
        </p:spPr>
        <p:txBody>
          <a:bodyPr wrap="square" rtlCol="0" anchor="ctr"/>
          <a:lstStyle/>
          <a:p>
            <a:pPr indent="0" marL="0">
              <a:buNone/>
            </a:pPr>
            <a:r>
              <a:rPr lang="en-US" sz="1000" dirty="0">
                <a:solidFill>
                  <a:srgbClr val="1C2434"/>
                </a:solidFill>
              </a:rPr>
              <a:t>To give you an accurate count, I would need to execute a search. If you'd like to know:</a:t>
            </a:r>
            <a:endParaRPr lang="en-US" sz="1000" dirty="0"/>
          </a:p>
        </p:txBody>
      </p:sp>
      <p:sp>
        <p:nvSpPr>
          <p:cNvPr id="4" name="Text 2"/>
          <p:cNvSpPr/>
          <p:nvPr/>
        </p:nvSpPr>
        <p:spPr>
          <a:xfrm>
            <a:off x="822960" y="3714659"/>
            <a:ext cx="7680960" cy="0"/>
          </a:xfrm>
          <a:prstGeom prst="rect">
            <a:avLst/>
          </a:prstGeom>
          <a:noFill/>
          <a:ln/>
        </p:spPr>
        <p:txBody>
          <a:bodyPr wrap="square" rtlCol="0" anchor="ctr"/>
          <a:lstStyle/>
          <a:p>
            <a:pPr marL="342900" indent="-342900">
              <a:buSzPct val="100000"/>
              <a:buChar char="•"/>
            </a:pPr>
            <a:r>
              <a:rPr lang="en-US" sz="1000" dirty="0">
                <a:solidFill>
                  <a:srgbClr val="1C2434"/>
                </a:solidFill>
              </a:rPr>
              <a:t>Total documents in the system - Ask me to search broadly</a:t>
            </a:r>
            <a:pPr indent="0" marL="0">
              <a:buNone/>
            </a:pPr>
            <a:r>
              <a:rPr lang="en-US" sz="1000" dirty="0">
                <a:solidFill>
                  <a:srgbClr val="1C2434"/>
                </a:solidFill>
              </a:rPr>
              <a:t>Documents matching specific criteria - Provide your query and I'll report exactly how many documents contain relevant results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What would you like me to search for?</a:t>
            </a:r>
            <a:endParaRPr lang="en-US" sz="1000" dirty="0"/>
          </a:p>
        </p:txBody>
      </p:sp>
      <p:sp>
        <p:nvSpPr>
          <p:cNvPr id="3" name="Text 1"/>
          <p:cNvSpPr/>
          <p:nvPr/>
        </p:nvSpPr>
        <p:spPr>
          <a:xfrm>
            <a:off x="731520" y="1021202"/>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4" name="Text 2"/>
          <p:cNvSpPr/>
          <p:nvPr/>
        </p:nvSpPr>
        <p:spPr>
          <a:xfrm>
            <a:off x="731520" y="1286378"/>
            <a:ext cx="7772400" cy="0"/>
          </a:xfrm>
          <a:prstGeom prst="rect">
            <a:avLst/>
          </a:prstGeom>
          <a:noFill/>
          <a:ln/>
        </p:spPr>
        <p:txBody>
          <a:bodyPr wrap="square" rtlCol="0" anchor="ctr"/>
          <a:lstStyle/>
          <a:p>
            <a:pPr indent="0" marL="0">
              <a:buNone/>
            </a:pPr>
            <a:r>
              <a:rPr lang="en-US" sz="800" dirty="0">
                <a:solidFill>
                  <a:srgbClr val="6B7280"/>
                </a:solidFill>
              </a:rPr>
              <a:t>1/13/2026, 3:09:56 PM</a:t>
            </a:r>
            <a:endParaRPr lang="en-US" sz="800" dirty="0"/>
          </a:p>
        </p:txBody>
      </p:sp>
      <p:sp>
        <p:nvSpPr>
          <p:cNvPr id="5" name="Text 3"/>
          <p:cNvSpPr/>
          <p:nvPr/>
        </p:nvSpPr>
        <p:spPr>
          <a:xfrm>
            <a:off x="640080" y="1551554"/>
            <a:ext cx="7863840" cy="0"/>
          </a:xfrm>
          <a:prstGeom prst="rect">
            <a:avLst/>
          </a:prstGeom>
          <a:noFill/>
          <a:ln/>
        </p:spPr>
        <p:txBody>
          <a:bodyPr wrap="square" rtlCol="0" anchor="ctr"/>
          <a:lstStyle/>
          <a:p>
            <a:pPr indent="0" marL="0">
              <a:buNone/>
            </a:pPr>
            <a:r>
              <a:rPr lang="en-US" sz="1000" dirty="0">
                <a:solidFill>
                  <a:srgbClr val="1C2434"/>
                </a:solidFill>
              </a:rPr>
              <a:t>What is the total number of side letter documents available in your database?</a:t>
            </a:r>
            <a:endParaRPr lang="en-US" sz="1000" dirty="0"/>
          </a:p>
        </p:txBody>
      </p:sp>
      <p:sp>
        <p:nvSpPr>
          <p:cNvPr id="6" name="Text 4"/>
          <p:cNvSpPr/>
          <p:nvPr/>
        </p:nvSpPr>
        <p:spPr>
          <a:xfrm>
            <a:off x="731520" y="2562515"/>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7" name="Text 5"/>
          <p:cNvSpPr/>
          <p:nvPr/>
        </p:nvSpPr>
        <p:spPr>
          <a:xfrm>
            <a:off x="731520" y="2827691"/>
            <a:ext cx="7772400" cy="0"/>
          </a:xfrm>
          <a:prstGeom prst="rect">
            <a:avLst/>
          </a:prstGeom>
          <a:noFill/>
          <a:ln/>
        </p:spPr>
        <p:txBody>
          <a:bodyPr wrap="square" rtlCol="0" anchor="ctr"/>
          <a:lstStyle/>
          <a:p>
            <a:pPr indent="0" marL="0">
              <a:buNone/>
            </a:pPr>
            <a:r>
              <a:rPr lang="en-US" sz="800" dirty="0">
                <a:solidFill>
                  <a:srgbClr val="6B7280"/>
                </a:solidFill>
              </a:rPr>
              <a:t>1/13/2026, 3:10:15 PM</a:t>
            </a:r>
            <a:endParaRPr lang="en-US" sz="800" dirty="0"/>
          </a:p>
        </p:txBody>
      </p:sp>
      <p:sp>
        <p:nvSpPr>
          <p:cNvPr id="8" name="Text 6"/>
          <p:cNvSpPr/>
          <p:nvPr/>
        </p:nvSpPr>
        <p:spPr>
          <a:xfrm>
            <a:off x="640080" y="3092867"/>
            <a:ext cx="7863840" cy="0"/>
          </a:xfrm>
          <a:prstGeom prst="rect">
            <a:avLst/>
          </a:prstGeom>
          <a:noFill/>
          <a:ln/>
        </p:spPr>
        <p:txBody>
          <a:bodyPr wrap="square" rtlCol="0" anchor="ctr"/>
          <a:lstStyle/>
          <a:p>
            <a:pPr indent="0" marL="0">
              <a:buNone/>
            </a:pPr>
            <a:r>
              <a:rPr lang="en-US" sz="1000" dirty="0">
                <a:solidFill>
                  <a:srgbClr val="1C2434"/>
                </a:solidFill>
              </a:rPr>
              <a:t>Total Side Letter Documents: 212</a:t>
            </a:r>
            <a:endParaRPr lang="en-US" sz="1000" dirty="0"/>
          </a:p>
        </p:txBody>
      </p:sp>
      <p:sp>
        <p:nvSpPr>
          <p:cNvPr id="9" name="Text 7"/>
          <p:cNvSpPr/>
          <p:nvPr/>
        </p:nvSpPr>
        <p:spPr>
          <a:xfrm>
            <a:off x="731520" y="3748308"/>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10" name="Text 8"/>
          <p:cNvSpPr/>
          <p:nvPr/>
        </p:nvSpPr>
        <p:spPr>
          <a:xfrm>
            <a:off x="731520" y="4013484"/>
            <a:ext cx="7772400" cy="0"/>
          </a:xfrm>
          <a:prstGeom prst="rect">
            <a:avLst/>
          </a:prstGeom>
          <a:noFill/>
          <a:ln/>
        </p:spPr>
        <p:txBody>
          <a:bodyPr wrap="square" rtlCol="0" anchor="ctr"/>
          <a:lstStyle/>
          <a:p>
            <a:pPr indent="0" marL="0">
              <a:buNone/>
            </a:pPr>
            <a:r>
              <a:rPr lang="en-US" sz="800" dirty="0">
                <a:solidFill>
                  <a:srgbClr val="6B7280"/>
                </a:solidFill>
              </a:rPr>
              <a:t>1/13/2026, 3:13:49 PM</a:t>
            </a:r>
            <a:endParaRPr lang="en-US" sz="800" dirty="0"/>
          </a:p>
        </p:txBody>
      </p:sp>
      <p:sp>
        <p:nvSpPr>
          <p:cNvPr id="11" name="Text 9"/>
          <p:cNvSpPr/>
          <p:nvPr/>
        </p:nvSpPr>
        <p:spPr>
          <a:xfrm>
            <a:off x="640080" y="4278660"/>
            <a:ext cx="7863840" cy="0"/>
          </a:xfrm>
          <a:prstGeom prst="rect">
            <a:avLst/>
          </a:prstGeom>
          <a:noFill/>
          <a:ln/>
        </p:spPr>
        <p:txBody>
          <a:bodyPr wrap="square" rtlCol="0" anchor="ctr"/>
          <a:lstStyle/>
          <a:p>
            <a:pPr indent="0" marL="0">
              <a:buNone/>
            </a:pPr>
            <a:r>
              <a:rPr lang="en-US" sz="1000" dirty="0">
                <a:solidFill>
                  <a:srgbClr val="1C2434"/>
                </a:solidFill>
              </a:rPr>
              <a:t>How many side letter documents do you analyze per question?</a:t>
            </a:r>
            <a:endParaRPr lang="en-US" sz="1000" dirty="0"/>
          </a:p>
        </p:txBody>
      </p:sp>
      <p:sp>
        <p:nvSpPr>
          <p:cNvPr id="12" name="Text 10"/>
          <p:cNvSpPr/>
          <p:nvPr/>
        </p:nvSpPr>
        <p:spPr>
          <a:xfrm>
            <a:off x="731520" y="5111862"/>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800" dirty="0">
                <a:solidFill>
                  <a:srgbClr val="6B7280"/>
                </a:solidFill>
              </a:rPr>
              <a:t>1/13/2026, 3:14:03 PM</a:t>
            </a:r>
            <a:endParaRPr lang="en-US" sz="800" dirty="0"/>
          </a:p>
        </p:txBody>
      </p:sp>
      <p:sp>
        <p:nvSpPr>
          <p:cNvPr id="3" name="Text 1"/>
          <p:cNvSpPr/>
          <p:nvPr/>
        </p:nvSpPr>
        <p:spPr>
          <a:xfrm>
            <a:off x="640080" y="630936"/>
            <a:ext cx="7863840" cy="0"/>
          </a:xfrm>
          <a:prstGeom prst="rect">
            <a:avLst/>
          </a:prstGeom>
          <a:noFill/>
          <a:ln/>
        </p:spPr>
        <p:txBody>
          <a:bodyPr wrap="square" rtlCol="0" anchor="ctr"/>
          <a:lstStyle/>
          <a:p>
            <a:pPr indent="0" marL="0">
              <a:buNone/>
            </a:pPr>
            <a:r>
              <a:rPr lang="en-US" sz="1000" dirty="0">
                <a:solidFill>
                  <a:srgbClr val="1C2434"/>
                </a:solidFill>
              </a:rPr>
              <a:t>The number of documents analyzed per question depends on your query type:</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336121"/>
          <a:ext cx="7863840" cy="914400"/>
        </p:xfrm>
        <a:graphic>
          <a:graphicData uri="http://schemas.openxmlformats.org/drawingml/2006/table">
            <a:tbl>
              <a:tblPr/>
              <a:tblGrid>
                <a:gridCol w="2848379"/>
                <a:gridCol w="2167082"/>
                <a:gridCol w="2848379"/>
              </a:tblGrid>
              <a:tr h="0">
                <a:tc>
                  <a:txBody>
                    <a:bodyPr/>
                    <a:lstStyle/>
                    <a:p>
                      <a:pPr indent="0" marL="0">
                        <a:buNone/>
                      </a:pPr>
                      <a:r>
                        <a:rPr lang="en-US" sz="700" b="1" dirty="0">
                          <a:solidFill>
                            <a:srgbClr val="FFFFFF"/>
                          </a:solidFill>
                        </a:rPr>
                        <a:t>Query Type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Documents Analyzed</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Example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Broad search (e.g., "all MFN provisions")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All 212 documents scanned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"List all fee discount provisions"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Targeted search (e.g., specific investor)</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Only matching documents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"Show provisions for CalPERS"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Comparative analysis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Multiple relevant documents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"Compare co-investment rights across LPs"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3088112"/>
            <a:ext cx="7863840" cy="0"/>
          </a:xfrm>
          <a:prstGeom prst="rect">
            <a:avLst/>
          </a:prstGeom>
          <a:noFill/>
          <a:ln/>
        </p:spPr>
        <p:txBody>
          <a:bodyPr wrap="square" rtlCol="0" anchor="ctr"/>
          <a:lstStyle/>
          <a:p>
            <a:pPr indent="0" marL="0">
              <a:buNone/>
            </a:pPr>
            <a:r>
              <a:rPr lang="en-US" sz="1000" dirty="0">
                <a:solidFill>
                  <a:srgbClr val="1C2434"/>
                </a:solidFill>
              </a:rPr>
              <a:t>How it works:</a:t>
            </a:r>
            <a:endParaRPr lang="en-US" sz="1000" dirty="0"/>
          </a:p>
        </p:txBody>
      </p:sp>
      <p:sp>
        <p:nvSpPr>
          <p:cNvPr id="6" name="Text 3"/>
          <p:cNvSpPr/>
          <p:nvPr/>
        </p:nvSpPr>
        <p:spPr>
          <a:xfrm>
            <a:off x="822960" y="3410346"/>
            <a:ext cx="7680960" cy="0"/>
          </a:xfrm>
          <a:prstGeom prst="rect">
            <a:avLst/>
          </a:prstGeom>
          <a:noFill/>
          <a:ln/>
        </p:spPr>
        <p:txBody>
          <a:bodyPr wrap="square" rtlCol="0" anchor="ctr"/>
          <a:lstStyle/>
          <a:p>
            <a:pPr marL="342900" indent="-342900">
              <a:buSzPct val="100000"/>
              <a:buFont typeface="+mj-lt"/>
              <a:buAutoNum type="arabicPeriod" startAt="1"/>
            </a:pPr>
            <a:r>
              <a:rPr lang="en-US" sz="1000" dirty="0">
                <a:solidFill>
                  <a:srgbClr val="1C2434"/>
                </a:solidFill>
              </a:rPr>
              <a:t>The search tool scans the full corpus (212 documents)</a:t>
            </a:r>
            <a:pPr indent="0" marL="0">
              <a:buNone/>
            </a:pPr>
            <a:r>
              <a:rPr lang="en-US" sz="1000" dirty="0">
                <a:solidFill>
                  <a:srgbClr val="1C2434"/>
                </a:solidFill>
              </a:rPr>
              <a:t>Returns only documents containing relevant matches</a:t>
            </a:r>
            <a:pPr indent="0" marL="0">
              <a:buNone/>
            </a:pPr>
            <a:r>
              <a:rPr lang="en-US" sz="1000" dirty="0">
                <a:solidFill>
                  <a:srgbClr val="1C2434"/>
                </a:solidFill>
              </a:rPr>
              <a:t>I report results from those matching documents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You control the scope - A narrow query yields fewer documents; a broad query may return results from all 212.</a:t>
            </a:r>
            <a:endParaRPr lang="en-US" sz="1000" dirty="0"/>
          </a:p>
        </p:txBody>
      </p:sp>
      <p:sp>
        <p:nvSpPr>
          <p:cNvPr id="3" name="Text 1"/>
          <p:cNvSpPr/>
          <p:nvPr/>
        </p:nvSpPr>
        <p:spPr>
          <a:xfrm>
            <a:off x="640080" y="1399032"/>
            <a:ext cx="7863840" cy="0"/>
          </a:xfrm>
          <a:prstGeom prst="rect">
            <a:avLst/>
          </a:prstGeom>
          <a:noFill/>
          <a:ln/>
        </p:spPr>
        <p:txBody>
          <a:bodyPr wrap="square" rtlCol="0" anchor="ctr"/>
          <a:lstStyle/>
          <a:p>
            <a:pPr indent="0" marL="0">
              <a:buNone/>
            </a:pPr>
            <a:r>
              <a:rPr lang="en-US" sz="1000" dirty="0">
                <a:solidFill>
                  <a:srgbClr val="1C2434"/>
                </a:solidFill>
              </a:rPr>
              <a:t>What specific analysis would you like me to run?</a:t>
            </a:r>
            <a:endParaRPr lang="en-US" sz="1000" dirty="0"/>
          </a:p>
        </p:txBody>
      </p:sp>
      <p:sp>
        <p:nvSpPr>
          <p:cNvPr id="4" name="Text 2"/>
          <p:cNvSpPr/>
          <p:nvPr/>
        </p:nvSpPr>
        <p:spPr>
          <a:xfrm>
            <a:off x="731520" y="2232233"/>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5" name="Text 3"/>
          <p:cNvSpPr/>
          <p:nvPr/>
        </p:nvSpPr>
        <p:spPr>
          <a:xfrm>
            <a:off x="731520" y="2497409"/>
            <a:ext cx="7772400" cy="0"/>
          </a:xfrm>
          <a:prstGeom prst="rect">
            <a:avLst/>
          </a:prstGeom>
          <a:noFill/>
          <a:ln/>
        </p:spPr>
        <p:txBody>
          <a:bodyPr wrap="square" rtlCol="0" anchor="ctr"/>
          <a:lstStyle/>
          <a:p>
            <a:pPr indent="0" marL="0">
              <a:buNone/>
            </a:pPr>
            <a:r>
              <a:rPr lang="en-US" sz="800" dirty="0">
                <a:solidFill>
                  <a:srgbClr val="6B7280"/>
                </a:solidFill>
              </a:rPr>
              <a:t>1/13/2026, 3:15:06 PM</a:t>
            </a:r>
            <a:endParaRPr lang="en-US" sz="800" dirty="0"/>
          </a:p>
        </p:txBody>
      </p:sp>
      <p:sp>
        <p:nvSpPr>
          <p:cNvPr id="6" name="Text 4"/>
          <p:cNvSpPr/>
          <p:nvPr/>
        </p:nvSpPr>
        <p:spPr>
          <a:xfrm>
            <a:off x="640080" y="2762585"/>
            <a:ext cx="7863840" cy="0"/>
          </a:xfrm>
          <a:prstGeom prst="rect">
            <a:avLst/>
          </a:prstGeom>
          <a:noFill/>
          <a:ln/>
        </p:spPr>
        <p:txBody>
          <a:bodyPr wrap="square" rtlCol="0" anchor="ctr"/>
          <a:lstStyle/>
          <a:p>
            <a:pPr indent="0" marL="0">
              <a:buNone/>
            </a:pPr>
            <a:r>
              <a:rPr lang="en-US" sz="1000" dirty="0">
                <a:solidFill>
                  <a:srgbClr val="1C2434"/>
                </a:solidFill>
              </a:rPr>
              <a:t>If i ask a question regarding side letters, how many documents will you analyze</a:t>
            </a:r>
            <a:endParaRPr lang="en-US" sz="1000" dirty="0"/>
          </a:p>
        </p:txBody>
      </p:sp>
      <p:sp>
        <p:nvSpPr>
          <p:cNvPr id="7" name="Text 5"/>
          <p:cNvSpPr/>
          <p:nvPr/>
        </p:nvSpPr>
        <p:spPr>
          <a:xfrm>
            <a:off x="731520" y="3773546"/>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8" name="Text 6"/>
          <p:cNvSpPr/>
          <p:nvPr/>
        </p:nvSpPr>
        <p:spPr>
          <a:xfrm>
            <a:off x="731520" y="4038722"/>
            <a:ext cx="7772400" cy="0"/>
          </a:xfrm>
          <a:prstGeom prst="rect">
            <a:avLst/>
          </a:prstGeom>
          <a:noFill/>
          <a:ln/>
        </p:spPr>
        <p:txBody>
          <a:bodyPr wrap="square" rtlCol="0" anchor="ctr"/>
          <a:lstStyle/>
          <a:p>
            <a:pPr indent="0" marL="0">
              <a:buNone/>
            </a:pPr>
            <a:r>
              <a:rPr lang="en-US" sz="800" dirty="0">
                <a:solidFill>
                  <a:srgbClr val="6B7280"/>
                </a:solidFill>
              </a:rPr>
              <a:t>1/13/2026, 3:15:18 PM</a:t>
            </a:r>
            <a:endParaRPr lang="en-US" sz="800" dirty="0"/>
          </a:p>
        </p:txBody>
      </p:sp>
      <p:sp>
        <p:nvSpPr>
          <p:cNvPr id="9" name="Text 7"/>
          <p:cNvSpPr/>
          <p:nvPr/>
        </p:nvSpPr>
        <p:spPr>
          <a:xfrm>
            <a:off x="640080" y="4303898"/>
            <a:ext cx="7863840" cy="0"/>
          </a:xfrm>
          <a:prstGeom prst="rect">
            <a:avLst/>
          </a:prstGeom>
          <a:noFill/>
          <a:ln/>
        </p:spPr>
        <p:txBody>
          <a:bodyPr wrap="square" rtlCol="0" anchor="ctr"/>
          <a:lstStyle/>
          <a:p>
            <a:pPr indent="0" marL="0">
              <a:buNone/>
            </a:pPr>
            <a:r>
              <a:rPr lang="en-US" sz="1000" dirty="0">
                <a:solidFill>
                  <a:srgbClr val="1C2434"/>
                </a:solidFill>
              </a:rPr>
              <a:t>All 212 side letter documents are analyzed for every question.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When you ask any question regarding side letters, the search tool scans the entire corpus of 212 documents to find relevant matches. The number of results returned depends on how many documents contain information matching your query—but the search always covers the full dataset.</a:t>
            </a:r>
            <a:endParaRPr lang="en-US" sz="1000" dirty="0"/>
          </a:p>
        </p:txBody>
      </p:sp>
      <p:sp>
        <p:nvSpPr>
          <p:cNvPr id="3" name="Text 1"/>
          <p:cNvSpPr/>
          <p:nvPr/>
        </p:nvSpPr>
        <p:spPr>
          <a:xfrm>
            <a:off x="731520" y="2621036"/>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4" name="Text 2"/>
          <p:cNvSpPr/>
          <p:nvPr/>
        </p:nvSpPr>
        <p:spPr>
          <a:xfrm>
            <a:off x="731520" y="2886212"/>
            <a:ext cx="7772400" cy="0"/>
          </a:xfrm>
          <a:prstGeom prst="rect">
            <a:avLst/>
          </a:prstGeom>
          <a:noFill/>
          <a:ln/>
        </p:spPr>
        <p:txBody>
          <a:bodyPr wrap="square" rtlCol="0" anchor="ctr"/>
          <a:lstStyle/>
          <a:p>
            <a:pPr indent="0" marL="0">
              <a:buNone/>
            </a:pPr>
            <a:r>
              <a:rPr lang="en-US" sz="800" dirty="0">
                <a:solidFill>
                  <a:srgbClr val="6B7280"/>
                </a:solidFill>
              </a:rPr>
              <a:t>1/13/2026, 3:16:45 PM</a:t>
            </a:r>
            <a:endParaRPr lang="en-US" sz="800" dirty="0"/>
          </a:p>
        </p:txBody>
      </p:sp>
      <p:sp>
        <p:nvSpPr>
          <p:cNvPr id="5" name="Text 3"/>
          <p:cNvSpPr/>
          <p:nvPr/>
        </p:nvSpPr>
        <p:spPr>
          <a:xfrm>
            <a:off x="640080" y="3151388"/>
            <a:ext cx="7863840" cy="0"/>
          </a:xfrm>
          <a:prstGeom prst="rect">
            <a:avLst/>
          </a:prstGeom>
          <a:noFill/>
          <a:ln/>
        </p:spPr>
        <p:txBody>
          <a:bodyPr wrap="square" rtlCol="0" anchor="ctr"/>
          <a:lstStyle/>
          <a:p>
            <a:pPr indent="0" marL="0">
              <a:buNone/>
            </a:pPr>
            <a:r>
              <a:rPr lang="en-US" sz="1000" dirty="0">
                <a:solidFill>
                  <a:srgbClr val="1C2434"/>
                </a:solidFill>
              </a:rPr>
              <a:t>I work in tax legal as a controller. I am tasked to review side letters that contain "“controlled commercial entity.” Do any of the side letters on the platform contain this term</a:t>
            </a:r>
            <a:endParaRPr lang="en-US" sz="1000" dirty="0"/>
          </a:p>
        </p:txBody>
      </p:sp>
      <p:sp>
        <p:nvSpPr>
          <p:cNvPr id="6" name="Text 4"/>
          <p:cNvSpPr/>
          <p:nvPr/>
        </p:nvSpPr>
        <p:spPr>
          <a:xfrm>
            <a:off x="731520" y="4873386"/>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7" name="Text 5"/>
          <p:cNvSpPr/>
          <p:nvPr/>
        </p:nvSpPr>
        <p:spPr>
          <a:xfrm>
            <a:off x="731520" y="5138562"/>
            <a:ext cx="7772400" cy="0"/>
          </a:xfrm>
          <a:prstGeom prst="rect">
            <a:avLst/>
          </a:prstGeom>
          <a:noFill/>
          <a:ln/>
        </p:spPr>
        <p:txBody>
          <a:bodyPr wrap="square" rtlCol="0" anchor="ctr"/>
          <a:lstStyle/>
          <a:p>
            <a:pPr indent="0" marL="0">
              <a:buNone/>
            </a:pPr>
            <a:r>
              <a:rPr lang="en-US" sz="800" dirty="0">
                <a:solidFill>
                  <a:srgbClr val="6B7280"/>
                </a:solidFill>
              </a:rPr>
              <a:t>1/13/2026, 3:17:05 PM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Search Results: "controlled commercial entity"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893186"/>
          <a:ext cx="7863840" cy="914400"/>
        </p:xfrm>
        <a:graphic>
          <a:graphicData uri="http://schemas.openxmlformats.org/drawingml/2006/table">
            <a:tbl>
              <a:tblPr/>
              <a:tblGrid>
                <a:gridCol w="5465648"/>
                <a:gridCol w="2398192"/>
              </a:tblGrid>
              <a:tr h="0">
                <a:tc>
                  <a:txBody>
                    <a:bodyPr/>
                    <a:lstStyle/>
                    <a:p>
                      <a:pPr indent="0" marL="0">
                        <a:buNone/>
                      </a:pPr>
                      <a:r>
                        <a:rPr lang="en-US" sz="700" b="1" dirty="0">
                          <a:solidFill>
                            <a:srgbClr val="FFFFFF"/>
                          </a:solidFill>
                        </a:rPr>
                        <a:t>Result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Count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Documents containing this term</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4" name="Text 1"/>
          <p:cNvSpPr/>
          <p:nvPr/>
        </p:nvSpPr>
        <p:spPr>
          <a:xfrm>
            <a:off x="640080" y="1514978"/>
            <a:ext cx="7863840" cy="0"/>
          </a:xfrm>
          <a:prstGeom prst="rect">
            <a:avLst/>
          </a:prstGeom>
          <a:noFill/>
          <a:ln/>
        </p:spPr>
        <p:txBody>
          <a:bodyPr wrap="square" rtlCol="0" anchor="ctr"/>
          <a:lstStyle/>
          <a:p>
            <a:pPr indent="0" marL="0">
              <a:buNone/>
            </a:pPr>
            <a:r>
              <a:rPr lang="en-US" sz="1000" dirty="0">
                <a:solidFill>
                  <a:srgbClr val="1C2434"/>
                </a:solidFill>
              </a:rPr>
              <a:t>No side letters on the platform contain the term "controlled commercial entity."</a:t>
            </a:r>
            <a:endParaRPr lang="en-US" sz="1000" dirty="0"/>
          </a:p>
        </p:txBody>
      </p:sp>
      <p:sp>
        <p:nvSpPr>
          <p:cNvPr id="5" name="Text 2"/>
          <p:cNvSpPr/>
          <p:nvPr/>
        </p:nvSpPr>
        <p:spPr>
          <a:xfrm>
            <a:off x="640080" y="2192731"/>
            <a:ext cx="7863840" cy="0"/>
          </a:xfrm>
          <a:prstGeom prst="rect">
            <a:avLst/>
          </a:prstGeom>
          <a:noFill/>
          <a:ln/>
        </p:spPr>
        <p:txBody>
          <a:bodyPr wrap="square" rtlCol="0" anchor="ctr"/>
          <a:lstStyle/>
          <a:p>
            <a:pPr indent="0" marL="0">
              <a:buNone/>
            </a:pPr>
            <a:r>
              <a:rPr lang="en-US" sz="1000" dirty="0">
                <a:solidFill>
                  <a:srgbClr val="1C2434"/>
                </a:solidFill>
              </a:rPr>
              <a:t>Total: 0 documents matched</a:t>
            </a:r>
            <a:endParaRPr lang="en-US" sz="1000" dirty="0"/>
          </a:p>
        </p:txBody>
      </p:sp>
      <p:sp>
        <p:nvSpPr>
          <p:cNvPr id="6" name="Text 3"/>
          <p:cNvSpPr/>
          <p:nvPr/>
        </p:nvSpPr>
        <p:spPr>
          <a:xfrm>
            <a:off x="731520" y="2670414"/>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7" name="Text 4"/>
          <p:cNvSpPr/>
          <p:nvPr/>
        </p:nvSpPr>
        <p:spPr>
          <a:xfrm>
            <a:off x="731520" y="2935590"/>
            <a:ext cx="7772400" cy="0"/>
          </a:xfrm>
          <a:prstGeom prst="rect">
            <a:avLst/>
          </a:prstGeom>
          <a:noFill/>
          <a:ln/>
        </p:spPr>
        <p:txBody>
          <a:bodyPr wrap="square" rtlCol="0" anchor="ctr"/>
          <a:lstStyle/>
          <a:p>
            <a:pPr indent="0" marL="0">
              <a:buNone/>
            </a:pPr>
            <a:r>
              <a:rPr lang="en-US" sz="800" dirty="0">
                <a:solidFill>
                  <a:srgbClr val="6B7280"/>
                </a:solidFill>
              </a:rPr>
              <a:t>1/13/2026, 3:19:52 PM</a:t>
            </a:r>
            <a:endParaRPr lang="en-US" sz="800" dirty="0"/>
          </a:p>
        </p:txBody>
      </p:sp>
      <p:sp>
        <p:nvSpPr>
          <p:cNvPr id="8" name="Text 5"/>
          <p:cNvSpPr/>
          <p:nvPr/>
        </p:nvSpPr>
        <p:spPr>
          <a:xfrm>
            <a:off x="640080" y="3200766"/>
            <a:ext cx="7863840" cy="0"/>
          </a:xfrm>
          <a:prstGeom prst="rect">
            <a:avLst/>
          </a:prstGeom>
          <a:noFill/>
          <a:ln/>
        </p:spPr>
        <p:txBody>
          <a:bodyPr wrap="square" rtlCol="0" anchor="ctr"/>
          <a:lstStyle/>
          <a:p>
            <a:pPr indent="0" marL="0">
              <a:buNone/>
            </a:pPr>
            <a:r>
              <a:rPr lang="en-US" sz="1000" dirty="0">
                <a:solidFill>
                  <a:srgbClr val="1C2434"/>
                </a:solidFill>
              </a:rPr>
              <a:t>How many side letter documents include the term ‘controlled commercial entity’</a:t>
            </a:r>
            <a:endParaRPr lang="en-US" sz="1000" dirty="0"/>
          </a:p>
        </p:txBody>
      </p:sp>
      <p:sp>
        <p:nvSpPr>
          <p:cNvPr id="9" name="Text 6"/>
          <p:cNvSpPr/>
          <p:nvPr/>
        </p:nvSpPr>
        <p:spPr>
          <a:xfrm>
            <a:off x="731520" y="4033967"/>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10" name="Text 7"/>
          <p:cNvSpPr/>
          <p:nvPr/>
        </p:nvSpPr>
        <p:spPr>
          <a:xfrm>
            <a:off x="731520" y="4299143"/>
            <a:ext cx="7772400" cy="0"/>
          </a:xfrm>
          <a:prstGeom prst="rect">
            <a:avLst/>
          </a:prstGeom>
          <a:noFill/>
          <a:ln/>
        </p:spPr>
        <p:txBody>
          <a:bodyPr wrap="square" rtlCol="0" anchor="ctr"/>
          <a:lstStyle/>
          <a:p>
            <a:pPr indent="0" marL="0">
              <a:buNone/>
            </a:pPr>
            <a:r>
              <a:rPr lang="en-US" sz="800" dirty="0">
                <a:solidFill>
                  <a:srgbClr val="6B7280"/>
                </a:solidFill>
              </a:rPr>
              <a:t>1/13/2026, 3:20:11 PM</a:t>
            </a:r>
            <a:endParaRPr lang="en-US" sz="800" dirty="0"/>
          </a:p>
        </p:txBody>
      </p:sp>
      <p:sp>
        <p:nvSpPr>
          <p:cNvPr id="11" name="Text 8"/>
          <p:cNvSpPr/>
          <p:nvPr/>
        </p:nvSpPr>
        <p:spPr>
          <a:xfrm>
            <a:off x="640080" y="4564319"/>
            <a:ext cx="7863840" cy="0"/>
          </a:xfrm>
          <a:prstGeom prst="rect">
            <a:avLst/>
          </a:prstGeom>
          <a:noFill/>
          <a:ln/>
        </p:spPr>
        <p:txBody>
          <a:bodyPr wrap="square" rtlCol="0" anchor="ctr"/>
          <a:lstStyle/>
          <a:p>
            <a:pPr indent="0" marL="0">
              <a:buNone/>
            </a:pPr>
            <a:r>
              <a:rPr lang="en-US" sz="1000" dirty="0">
                <a:solidFill>
                  <a:srgbClr val="1C2434"/>
                </a:solidFill>
              </a:rPr>
              <a:t>0 documents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No side letter documents in the searched collection include the term "controlled commercial entity."</a:t>
            </a:r>
            <a:endParaRPr lang="en-US" sz="1000" dirty="0"/>
          </a:p>
        </p:txBody>
      </p:sp>
      <p:sp>
        <p:nvSpPr>
          <p:cNvPr id="3" name="Text 1"/>
          <p:cNvSpPr/>
          <p:nvPr/>
        </p:nvSpPr>
        <p:spPr>
          <a:xfrm>
            <a:off x="731520" y="1376721"/>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4" name="Text 2"/>
          <p:cNvSpPr/>
          <p:nvPr/>
        </p:nvSpPr>
        <p:spPr>
          <a:xfrm>
            <a:off x="731520" y="1641897"/>
            <a:ext cx="7772400" cy="0"/>
          </a:xfrm>
          <a:prstGeom prst="rect">
            <a:avLst/>
          </a:prstGeom>
          <a:noFill/>
          <a:ln/>
        </p:spPr>
        <p:txBody>
          <a:bodyPr wrap="square" rtlCol="0" anchor="ctr"/>
          <a:lstStyle/>
          <a:p>
            <a:pPr indent="0" marL="0">
              <a:buNone/>
            </a:pPr>
            <a:r>
              <a:rPr lang="en-US" sz="800" dirty="0">
                <a:solidFill>
                  <a:srgbClr val="6B7280"/>
                </a:solidFill>
              </a:rPr>
              <a:t>1/13/2026, 3:22:07 PM</a:t>
            </a:r>
            <a:endParaRPr lang="en-US" sz="800" dirty="0"/>
          </a:p>
        </p:txBody>
      </p:sp>
      <p:sp>
        <p:nvSpPr>
          <p:cNvPr id="5" name="Text 3"/>
          <p:cNvSpPr/>
          <p:nvPr/>
        </p:nvSpPr>
        <p:spPr>
          <a:xfrm>
            <a:off x="640080" y="1907073"/>
            <a:ext cx="7863840" cy="0"/>
          </a:xfrm>
          <a:prstGeom prst="rect">
            <a:avLst/>
          </a:prstGeom>
          <a:noFill/>
          <a:ln/>
        </p:spPr>
        <p:txBody>
          <a:bodyPr wrap="square" rtlCol="0" anchor="ctr"/>
          <a:lstStyle/>
          <a:p>
            <a:pPr indent="0" marL="0">
              <a:buNone/>
            </a:pPr>
            <a:r>
              <a:rPr lang="en-US" sz="1000" dirty="0">
                <a:solidFill>
                  <a:srgbClr val="1C2434"/>
                </a:solidFill>
              </a:rPr>
              <a:t>Search across all side letter documents for the word or term ‘controlled commercial entity’</a:t>
            </a:r>
            <a:endParaRPr lang="en-US" sz="1000" dirty="0"/>
          </a:p>
        </p:txBody>
      </p:sp>
      <p:sp>
        <p:nvSpPr>
          <p:cNvPr id="6" name="Text 4"/>
          <p:cNvSpPr/>
          <p:nvPr/>
        </p:nvSpPr>
        <p:spPr>
          <a:xfrm>
            <a:off x="731520" y="2918033"/>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7" name="Text 5"/>
          <p:cNvSpPr/>
          <p:nvPr/>
        </p:nvSpPr>
        <p:spPr>
          <a:xfrm>
            <a:off x="731520" y="3183209"/>
            <a:ext cx="7772400" cy="0"/>
          </a:xfrm>
          <a:prstGeom prst="rect">
            <a:avLst/>
          </a:prstGeom>
          <a:noFill/>
          <a:ln/>
        </p:spPr>
        <p:txBody>
          <a:bodyPr wrap="square" rtlCol="0" anchor="ctr"/>
          <a:lstStyle/>
          <a:p>
            <a:pPr indent="0" marL="0">
              <a:buNone/>
            </a:pPr>
            <a:r>
              <a:rPr lang="en-US" sz="800" dirty="0">
                <a:solidFill>
                  <a:srgbClr val="6B7280"/>
                </a:solidFill>
              </a:rPr>
              <a:t>1/13/2026, 3:22:39 PM</a:t>
            </a:r>
            <a:endParaRPr lang="en-US" sz="800" dirty="0"/>
          </a:p>
        </p:txBody>
      </p:sp>
      <p:sp>
        <p:nvSpPr>
          <p:cNvPr id="8" name="Text 6"/>
          <p:cNvSpPr/>
          <p:nvPr/>
        </p:nvSpPr>
        <p:spPr>
          <a:xfrm>
            <a:off x="640080" y="3503249"/>
            <a:ext cx="7863840" cy="0"/>
          </a:xfrm>
          <a:prstGeom prst="rect">
            <a:avLst/>
          </a:prstGeom>
          <a:noFill/>
          <a:ln/>
        </p:spPr>
        <p:txBody>
          <a:bodyPr wrap="square" rtlCol="0" anchor="ctr"/>
          <a:lstStyle/>
          <a:p>
            <a:pPr indent="0" marL="0">
              <a:buNone/>
            </a:pPr>
            <a:r>
              <a:rPr lang="en-US" sz="1700" b="1" dirty="0">
                <a:solidFill>
                  <a:srgbClr val="1C2434"/>
                </a:solidFill>
              </a:rPr>
              <a:t>Search Results: "controlled commercial entity"</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4483486"/>
          <a:ext cx="7863840" cy="914400"/>
        </p:xfrm>
        <a:graphic>
          <a:graphicData uri="http://schemas.openxmlformats.org/drawingml/2006/table">
            <a:tbl>
              <a:tblPr/>
              <a:tblGrid>
                <a:gridCol w="3931920"/>
                <a:gridCol w="3931920"/>
              </a:tblGrid>
              <a:tr h="0">
                <a:tc>
                  <a:txBody>
                    <a:bodyPr/>
                    <a:lstStyle/>
                    <a:p>
                      <a:pPr indent="0" marL="0">
                        <a:buNone/>
                      </a:pPr>
                      <a:r>
                        <a:rPr lang="en-US" sz="700" b="1" dirty="0">
                          <a:solidFill>
                            <a:srgbClr val="FFFFFF"/>
                          </a:solidFill>
                        </a:rPr>
                        <a:t>Metric</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Value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Documents Searched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100% coverage</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Documents Matched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Items Returned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Result: The term "controlled commercial entity" was not found in any of the searched side letter documents.</a:t>
            </a:r>
            <a:endParaRPr lang="en-US" sz="1000" dirty="0"/>
          </a:p>
        </p:txBody>
      </p:sp>
      <p:sp>
        <p:nvSpPr>
          <p:cNvPr id="3" name="Text 1"/>
          <p:cNvSpPr/>
          <p:nvPr/>
        </p:nvSpPr>
        <p:spPr>
          <a:xfrm>
            <a:off x="731520" y="1554480"/>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4" name="Text 2"/>
          <p:cNvSpPr/>
          <p:nvPr/>
        </p:nvSpPr>
        <p:spPr>
          <a:xfrm>
            <a:off x="731520" y="1819656"/>
            <a:ext cx="7772400" cy="0"/>
          </a:xfrm>
          <a:prstGeom prst="rect">
            <a:avLst/>
          </a:prstGeom>
          <a:noFill/>
          <a:ln/>
        </p:spPr>
        <p:txBody>
          <a:bodyPr wrap="square" rtlCol="0" anchor="ctr"/>
          <a:lstStyle/>
          <a:p>
            <a:pPr indent="0" marL="0">
              <a:buNone/>
            </a:pPr>
            <a:r>
              <a:rPr lang="en-US" sz="800" dirty="0">
                <a:solidFill>
                  <a:srgbClr val="6B7280"/>
                </a:solidFill>
              </a:rPr>
              <a:t>1/13/2026, 3:23:05 PM</a:t>
            </a:r>
            <a:endParaRPr lang="en-US" sz="800" dirty="0"/>
          </a:p>
        </p:txBody>
      </p:sp>
      <p:sp>
        <p:nvSpPr>
          <p:cNvPr id="5" name="Text 3"/>
          <p:cNvSpPr/>
          <p:nvPr/>
        </p:nvSpPr>
        <p:spPr>
          <a:xfrm>
            <a:off x="640080" y="2084832"/>
            <a:ext cx="7863840" cy="0"/>
          </a:xfrm>
          <a:prstGeom prst="rect">
            <a:avLst/>
          </a:prstGeom>
          <a:noFill/>
          <a:ln/>
        </p:spPr>
        <p:txBody>
          <a:bodyPr wrap="square" rtlCol="0" anchor="ctr"/>
          <a:lstStyle/>
          <a:p>
            <a:pPr indent="0" marL="0">
              <a:buNone/>
            </a:pPr>
            <a:r>
              <a:rPr lang="en-US" sz="1000" dirty="0">
                <a:solidFill>
                  <a:srgbClr val="1C2434"/>
                </a:solidFill>
              </a:rPr>
              <a:t>Are there any side letters that reference something close to this term</a:t>
            </a:r>
            <a:endParaRPr lang="en-US" sz="1000" dirty="0"/>
          </a:p>
        </p:txBody>
      </p:sp>
      <p:sp>
        <p:nvSpPr>
          <p:cNvPr id="6" name="Text 4"/>
          <p:cNvSpPr/>
          <p:nvPr/>
        </p:nvSpPr>
        <p:spPr>
          <a:xfrm>
            <a:off x="731520" y="2918033"/>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7" name="Text 5"/>
          <p:cNvSpPr/>
          <p:nvPr/>
        </p:nvSpPr>
        <p:spPr>
          <a:xfrm>
            <a:off x="731520" y="3183209"/>
            <a:ext cx="7772400" cy="0"/>
          </a:xfrm>
          <a:prstGeom prst="rect">
            <a:avLst/>
          </a:prstGeom>
          <a:noFill/>
          <a:ln/>
        </p:spPr>
        <p:txBody>
          <a:bodyPr wrap="square" rtlCol="0" anchor="ctr"/>
          <a:lstStyle/>
          <a:p>
            <a:pPr indent="0" marL="0">
              <a:buNone/>
            </a:pPr>
            <a:r>
              <a:rPr lang="en-US" sz="800" dirty="0">
                <a:solidFill>
                  <a:srgbClr val="6B7280"/>
                </a:solidFill>
              </a:rPr>
              <a:t>1/13/2026, 3:23:30 PM</a:t>
            </a:r>
            <a:endParaRPr lang="en-US" sz="800" dirty="0"/>
          </a:p>
        </p:txBody>
      </p:sp>
      <p:sp>
        <p:nvSpPr>
          <p:cNvPr id="8" name="Text 6"/>
          <p:cNvSpPr/>
          <p:nvPr/>
        </p:nvSpPr>
        <p:spPr>
          <a:xfrm>
            <a:off x="640080" y="3503249"/>
            <a:ext cx="7863840" cy="0"/>
          </a:xfrm>
          <a:prstGeom prst="rect">
            <a:avLst/>
          </a:prstGeom>
          <a:noFill/>
          <a:ln/>
        </p:spPr>
        <p:txBody>
          <a:bodyPr wrap="square" rtlCol="0" anchor="ctr"/>
          <a:lstStyle/>
          <a:p>
            <a:pPr indent="0" marL="0">
              <a:buNone/>
            </a:pPr>
            <a:r>
              <a:rPr lang="en-US" sz="1700" b="1" dirty="0">
                <a:solidFill>
                  <a:srgbClr val="1C2434"/>
                </a:solidFill>
              </a:rPr>
              <a:t>Search Results: Related Terms to "controlled commercial entity"</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365760"/>
          <a:ext cx="7863840" cy="914400"/>
        </p:xfrm>
        <a:graphic>
          <a:graphicData uri="http://schemas.openxmlformats.org/drawingml/2006/table">
            <a:tbl>
              <a:tblPr/>
              <a:tblGrid>
                <a:gridCol w="3931920"/>
                <a:gridCol w="3931920"/>
              </a:tblGrid>
              <a:tr h="0">
                <a:tc>
                  <a:txBody>
                    <a:bodyPr/>
                    <a:lstStyle/>
                    <a:p>
                      <a:pPr indent="0" marL="0">
                        <a:buNone/>
                      </a:pPr>
                      <a:r>
                        <a:rPr lang="en-US" sz="700" b="1" dirty="0">
                          <a:solidFill>
                            <a:srgbClr val="FFFFFF"/>
                          </a:solidFill>
                        </a:rPr>
                        <a:t>Metric</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Value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Documents Searched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100% coverage</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Documents Matched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Items Returned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3" name="Text 0"/>
          <p:cNvSpPr/>
          <p:nvPr/>
        </p:nvSpPr>
        <p:spPr>
          <a:xfrm>
            <a:off x="640080" y="1426464"/>
            <a:ext cx="7863840" cy="0"/>
          </a:xfrm>
          <a:prstGeom prst="rect">
            <a:avLst/>
          </a:prstGeom>
          <a:noFill/>
          <a:ln/>
        </p:spPr>
        <p:txBody>
          <a:bodyPr wrap="square" rtlCol="0" anchor="ctr"/>
          <a:lstStyle/>
          <a:p>
            <a:pPr indent="0" marL="0">
              <a:buNone/>
            </a:pPr>
            <a:r>
              <a:rPr lang="en-US" sz="1000" dirty="0">
                <a:solidFill>
                  <a:srgbClr val="1C2434"/>
                </a:solidFill>
              </a:rPr>
              <a:t>Result: No matches found for "controlled commercial entity" or related variations including:</a:t>
            </a:r>
            <a:endParaRPr lang="en-US" sz="1000" dirty="0"/>
          </a:p>
        </p:txBody>
      </p:sp>
      <p:sp>
        <p:nvSpPr>
          <p:cNvPr id="4" name="Text 1"/>
          <p:cNvSpPr/>
          <p:nvPr/>
        </p:nvSpPr>
        <p:spPr>
          <a:xfrm>
            <a:off x="822960" y="2104217"/>
            <a:ext cx="7680960" cy="0"/>
          </a:xfrm>
          <a:prstGeom prst="rect">
            <a:avLst/>
          </a:prstGeom>
          <a:noFill/>
          <a:ln/>
        </p:spPr>
        <p:txBody>
          <a:bodyPr wrap="square" rtlCol="0" anchor="ctr"/>
          <a:lstStyle/>
          <a:p>
            <a:pPr marL="342900" indent="-342900">
              <a:buSzPct val="100000"/>
              <a:buChar char="•"/>
            </a:pPr>
            <a:r>
              <a:rPr lang="en-US" sz="1000" dirty="0">
                <a:solidFill>
                  <a:srgbClr val="1C2434"/>
                </a:solidFill>
              </a:rPr>
              <a:t>"controlled entity"</a:t>
            </a:r>
            <a:pPr indent="0" marL="0">
              <a:buNone/>
            </a:pPr>
            <a:r>
              <a:rPr lang="en-US" sz="1000" dirty="0">
                <a:solidFill>
                  <a:srgbClr val="1C2434"/>
                </a:solidFill>
              </a:rPr>
              <a:t>"commercial entity"</a:t>
            </a:r>
            <a:pPr indent="0" marL="0">
              <a:buNone/>
            </a:pPr>
            <a:r>
              <a:rPr lang="en-US" sz="1000" dirty="0">
                <a:solidFill>
                  <a:srgbClr val="1C2434"/>
                </a:solidFill>
              </a:rPr>
              <a:t>"controlled company"</a:t>
            </a:r>
            <a:pPr indent="0" marL="0">
              <a:buNone/>
            </a:pPr>
            <a:r>
              <a:rPr lang="en-US" sz="1000" dirty="0">
                <a:solidFill>
                  <a:srgbClr val="1C2434"/>
                </a:solidFill>
              </a:rPr>
              <a:t>Related regulatory/ownership terminology</a:t>
            </a:r>
            <a:endParaRPr lang="en-US" sz="1000" dirty="0"/>
          </a:p>
        </p:txBody>
      </p:sp>
      <p:sp>
        <p:nvSpPr>
          <p:cNvPr id="5" name="Text 2"/>
          <p:cNvSpPr/>
          <p:nvPr/>
        </p:nvSpPr>
        <p:spPr>
          <a:xfrm>
            <a:off x="640080" y="2997769"/>
            <a:ext cx="7863840" cy="0"/>
          </a:xfrm>
          <a:prstGeom prst="rect">
            <a:avLst/>
          </a:prstGeom>
          <a:noFill/>
          <a:ln/>
        </p:spPr>
        <p:txBody>
          <a:bodyPr wrap="square" rtlCol="0" anchor="ctr"/>
          <a:lstStyle/>
          <a:p>
            <a:pPr indent="0" marL="0">
              <a:buNone/>
            </a:pPr>
            <a:r>
              <a:rPr lang="en-US" sz="1000" dirty="0">
                <a:solidFill>
                  <a:srgbClr val="1C2434"/>
                </a:solidFill>
              </a:rPr>
              <a:t>This terminology does not appear in the searched side letter documents.</a:t>
            </a:r>
            <a:endParaRPr lang="en-US" sz="1000" dirty="0"/>
          </a:p>
        </p:txBody>
      </p:sp>
      <p:sp>
        <p:nvSpPr>
          <p:cNvPr id="6" name="Text 3"/>
          <p:cNvSpPr/>
          <p:nvPr/>
        </p:nvSpPr>
        <p:spPr>
          <a:xfrm>
            <a:off x="731520" y="3830970"/>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7" name="Text 4"/>
          <p:cNvSpPr/>
          <p:nvPr/>
        </p:nvSpPr>
        <p:spPr>
          <a:xfrm>
            <a:off x="731520" y="4096146"/>
            <a:ext cx="7772400" cy="0"/>
          </a:xfrm>
          <a:prstGeom prst="rect">
            <a:avLst/>
          </a:prstGeom>
          <a:noFill/>
          <a:ln/>
        </p:spPr>
        <p:txBody>
          <a:bodyPr wrap="square" rtlCol="0" anchor="ctr"/>
          <a:lstStyle/>
          <a:p>
            <a:pPr indent="0" marL="0">
              <a:buNone/>
            </a:pPr>
            <a:r>
              <a:rPr lang="en-US" sz="800" dirty="0">
                <a:solidFill>
                  <a:srgbClr val="6B7280"/>
                </a:solidFill>
              </a:rPr>
              <a:t>1/13/2026, 3:24:05 PM</a:t>
            </a:r>
            <a:endParaRPr lang="en-US" sz="800" dirty="0"/>
          </a:p>
        </p:txBody>
      </p:sp>
      <p:sp>
        <p:nvSpPr>
          <p:cNvPr id="8" name="Text 5"/>
          <p:cNvSpPr/>
          <p:nvPr/>
        </p:nvSpPr>
        <p:spPr>
          <a:xfrm>
            <a:off x="640080" y="4361322"/>
            <a:ext cx="7863840" cy="0"/>
          </a:xfrm>
          <a:prstGeom prst="rect">
            <a:avLst/>
          </a:prstGeom>
          <a:noFill/>
          <a:ln/>
        </p:spPr>
        <p:txBody>
          <a:bodyPr wrap="square" rtlCol="0" anchor="ctr"/>
          <a:lstStyle/>
          <a:p>
            <a:pPr indent="0" marL="0">
              <a:buNone/>
            </a:pPr>
            <a:r>
              <a:rPr lang="en-US" sz="1000" dirty="0">
                <a:solidFill>
                  <a:srgbClr val="1C2434"/>
                </a:solidFill>
              </a:rPr>
              <a:t>Can you please provide me 20 side letters that have either withholding tax or investment policy provisions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3" name="Text 1"/>
          <p:cNvSpPr/>
          <p:nvPr/>
        </p:nvSpPr>
        <p:spPr>
          <a:xfrm>
            <a:off x="731520" y="630936"/>
            <a:ext cx="7772400" cy="0"/>
          </a:xfrm>
          <a:prstGeom prst="rect">
            <a:avLst/>
          </a:prstGeom>
          <a:noFill/>
          <a:ln/>
        </p:spPr>
        <p:txBody>
          <a:bodyPr wrap="square" rtlCol="0" anchor="ctr"/>
          <a:lstStyle/>
          <a:p>
            <a:pPr indent="0" marL="0">
              <a:buNone/>
            </a:pPr>
            <a:r>
              <a:rPr lang="en-US" sz="800" dirty="0">
                <a:solidFill>
                  <a:srgbClr val="6B7280"/>
                </a:solidFill>
              </a:rPr>
              <a:t>1/13/2026, 3:24:26 PM</a:t>
            </a:r>
            <a:endParaRPr lang="en-US" sz="800" dirty="0"/>
          </a:p>
        </p:txBody>
      </p:sp>
      <p:sp>
        <p:nvSpPr>
          <p:cNvPr id="4" name="Text 2"/>
          <p:cNvSpPr/>
          <p:nvPr/>
        </p:nvSpPr>
        <p:spPr>
          <a:xfrm>
            <a:off x="640080" y="896112"/>
            <a:ext cx="7863840" cy="0"/>
          </a:xfrm>
          <a:prstGeom prst="rect">
            <a:avLst/>
          </a:prstGeom>
          <a:noFill/>
          <a:ln/>
        </p:spPr>
        <p:txBody>
          <a:bodyPr wrap="square" rtlCol="0" anchor="ctr"/>
          <a:lstStyle/>
          <a:p>
            <a:pPr indent="0" marL="0">
              <a:buNone/>
            </a:pPr>
            <a:r>
              <a:rPr lang="en-US" sz="1000" dirty="0">
                <a:solidFill>
                  <a:srgbClr val="1C2434"/>
                </a:solidFill>
              </a:rPr>
              <a:t>The search found 137 documents with either withholding tax or investment policy provisions, but no specific document details were returned in this query.</a:t>
            </a:r>
            <a:endParaRPr lang="en-US" sz="1000" dirty="0"/>
          </a:p>
        </p:txBody>
      </p:sp>
      <p:sp>
        <p:nvSpPr>
          <p:cNvPr id="5" name="Text 3"/>
          <p:cNvSpPr/>
          <p:nvPr/>
        </p:nvSpPr>
        <p:spPr>
          <a:xfrm>
            <a:off x="640080" y="2107143"/>
            <a:ext cx="7863840" cy="0"/>
          </a:xfrm>
          <a:prstGeom prst="rect">
            <a:avLst/>
          </a:prstGeom>
          <a:noFill/>
          <a:ln/>
        </p:spPr>
        <p:txBody>
          <a:bodyPr wrap="square" rtlCol="0" anchor="ctr"/>
          <a:lstStyle/>
          <a:p>
            <a:pPr indent="0" marL="0">
              <a:buNone/>
            </a:pPr>
            <a:r>
              <a:rPr lang="en-US" sz="1000" dirty="0">
                <a:solidFill>
                  <a:srgbClr val="1C2434"/>
                </a:solidFill>
              </a:rPr>
              <a:t>Let me retrieve the actual document details:</a:t>
            </a:r>
            <a:endParaRPr lang="en-US" sz="1000" dirty="0"/>
          </a:p>
        </p:txBody>
      </p:sp>
      <p:sp>
        <p:nvSpPr>
          <p:cNvPr id="6" name="Text 4"/>
          <p:cNvSpPr/>
          <p:nvPr/>
        </p:nvSpPr>
        <p:spPr>
          <a:xfrm>
            <a:off x="731520" y="2762585"/>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7" name="Text 5"/>
          <p:cNvSpPr/>
          <p:nvPr/>
        </p:nvSpPr>
        <p:spPr>
          <a:xfrm>
            <a:off x="731520" y="3027761"/>
            <a:ext cx="7772400" cy="0"/>
          </a:xfrm>
          <a:prstGeom prst="rect">
            <a:avLst/>
          </a:prstGeom>
          <a:noFill/>
          <a:ln/>
        </p:spPr>
        <p:txBody>
          <a:bodyPr wrap="square" rtlCol="0" anchor="ctr"/>
          <a:lstStyle/>
          <a:p>
            <a:pPr indent="0" marL="0">
              <a:buNone/>
            </a:pPr>
            <a:r>
              <a:rPr lang="en-US" sz="800" dirty="0">
                <a:solidFill>
                  <a:srgbClr val="6B7280"/>
                </a:solidFill>
              </a:rPr>
              <a:t>1/13/2026, 3:29:59 PM</a:t>
            </a:r>
            <a:endParaRPr lang="en-US" sz="800" dirty="0"/>
          </a:p>
        </p:txBody>
      </p:sp>
      <p:sp>
        <p:nvSpPr>
          <p:cNvPr id="8" name="Text 6"/>
          <p:cNvSpPr/>
          <p:nvPr/>
        </p:nvSpPr>
        <p:spPr>
          <a:xfrm>
            <a:off x="640080" y="3292937"/>
            <a:ext cx="7863840" cy="0"/>
          </a:xfrm>
          <a:prstGeom prst="rect">
            <a:avLst/>
          </a:prstGeom>
          <a:noFill/>
          <a:ln/>
        </p:spPr>
        <p:txBody>
          <a:bodyPr wrap="square" rtlCol="0" anchor="ctr"/>
          <a:lstStyle/>
          <a:p>
            <a:pPr indent="0" marL="0">
              <a:buNone/>
            </a:pPr>
            <a:r>
              <a:rPr lang="en-US" sz="1000" dirty="0">
                <a:solidFill>
                  <a:srgbClr val="1C2434"/>
                </a:solidFill>
              </a:rPr>
              <a:t>Please list 20 of those side letter documents in a table, as requested in my question</a:t>
            </a:r>
            <a:endParaRPr lang="en-US" sz="1000" dirty="0"/>
          </a:p>
        </p:txBody>
      </p:sp>
      <p:sp>
        <p:nvSpPr>
          <p:cNvPr id="9" name="Text 7"/>
          <p:cNvSpPr/>
          <p:nvPr/>
        </p:nvSpPr>
        <p:spPr>
          <a:xfrm>
            <a:off x="731520" y="4303898"/>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10" name="Text 8"/>
          <p:cNvSpPr/>
          <p:nvPr/>
        </p:nvSpPr>
        <p:spPr>
          <a:xfrm>
            <a:off x="731520" y="4569074"/>
            <a:ext cx="7772400" cy="0"/>
          </a:xfrm>
          <a:prstGeom prst="rect">
            <a:avLst/>
          </a:prstGeom>
          <a:noFill/>
          <a:ln/>
        </p:spPr>
        <p:txBody>
          <a:bodyPr wrap="square" rtlCol="0" anchor="ctr"/>
          <a:lstStyle/>
          <a:p>
            <a:pPr indent="0" marL="0">
              <a:buNone/>
            </a:pPr>
            <a:r>
              <a:rPr lang="en-US" sz="800" dirty="0">
                <a:solidFill>
                  <a:srgbClr val="6B7280"/>
                </a:solidFill>
              </a:rPr>
              <a:t>1/13/2026, 3:30:29 PM</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700" b="1" dirty="0">
                <a:solidFill>
                  <a:srgbClr val="1C2434"/>
                </a:solidFill>
              </a:rPr>
              <a:t>Side Letters with Withholding Tax or Investment Policy Provisions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365760"/>
          <a:ext cx="7863840" cy="914400"/>
        </p:xfrm>
        <a:graphic>
          <a:graphicData uri="http://schemas.openxmlformats.org/drawingml/2006/table">
            <a:tbl>
              <a:tblPr/>
              <a:tblGrid>
                <a:gridCol w="467459"/>
                <a:gridCol w="2617772"/>
                <a:gridCol w="939775"/>
                <a:gridCol w="2436455"/>
                <a:gridCol w="467459"/>
                <a:gridCol w="467459"/>
                <a:gridCol w="467459"/>
              </a:tblGrid>
              <a:tr h="0">
                <a:tc>
                  <a:txBody>
                    <a:bodyPr/>
                    <a:lstStyle/>
                    <a:p>
                      <a:pPr indent="0" marL="0">
                        <a:buNone/>
                      </a:pPr>
                      <a:r>
                        <a:rPr lang="en-US" sz="700" b="1" dirty="0">
                          <a:solidFill>
                            <a:srgbClr val="FFFFFF"/>
                          </a:solidFill>
                        </a:rPr>
                        <a: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File Name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Fund</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Investor</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Executed Date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Provisions</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Obligations</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Side Letter - Brighthouse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Brighthouse Life Insurance Company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Side Letter - Virginia Retirement System (VRS)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Virginia Retirement System</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57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87 - AIF X - Side Letter - San Antonio Fire &amp; Police (Executed)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Fire and Police Pension Fund, San Antonio</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(Lux) X - Side Letter - Varma Mutual Pension Insurance Company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Varma Mutual Pension Insurance Company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163 - AIF X - Side Letter - SP Touchdown Acquisitions L.P. (GVS)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SP Touchdown Acquisitions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38 - AIF X - Side Letter - Maryland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Board of Trustees for the Maryland State Retirement and Pension System</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58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IX, L.P. - Side Letter - Menora Mivtachim Investments in P.E. Funds,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IX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Menora Mivtachim Investments in P.E. Funds, Limited Partnership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Hybrid Value Overseas Partners (Delaware 892), L.P. - Side Letter - Public Pension Agency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Hybrid Value Fund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Public Pension Agency of the Kingdom of Saudi Arabia</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Aligned Alternatives (C &amp; C-2), L.P. - Side Letter (Sumitomo Mitsui Trust Bank, Limited)...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Aligned Alternatives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Sumitomo Mitsui Trust Bank, Limited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58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(Delaware 892) IX, L.P. - Side Letter - Kuwait Investment Authority (20...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IX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Kuwait Investment Authority acting for and on behalf of the Government of the St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(DE 892) X - Side Letter - Keva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Keva</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139 - AIF X - Side Letter - NewVest Vintage 2022 Aggregator (PE 50) LP. (2023-03-30)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NewVest Vintage 2022 Aggregator (PE 50)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37 - AIF X - Side Letter (NYC BERS) (2023-03-30)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The Board of Education Retirement System of the City of New York</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75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Investment Fund X, L.P. - Side Letter (NYC Fire Dep't) (2023-03-30)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New York City Fire Department Pension Fund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76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(DE) X - Side Letter - The Phoenix Insurance Company Ltd. (Nostro) (2023-06-30)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The Phoenix Insurance Company Ltd. (Nostro)</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53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IPCC - MassMutual-Ascend Side Letter (Execution version)</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IPCC Fund,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Massachusetts Mutual Life Insurance Company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Side Letter - TRS of Illinois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Teacher's Retirement System of the State of Illinois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51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(Lux) X - Side Letter - Stichting Juridisch Eigenaar Aureus Vintage Program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Stichting Juridisch Eigenaar Aureus Vintage Program 2022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700" i="1" dirty="0">
                <a:solidFill>
                  <a:srgbClr val="6B7280"/>
                </a:solidFill>
              </a:rPr>
              <a:t>(continued)</a:t>
            </a:r>
            <a:endParaRPr lang="en-US" sz="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548640"/>
          <a:ext cx="7863840" cy="914400"/>
        </p:xfrm>
        <a:graphic>
          <a:graphicData uri="http://schemas.openxmlformats.org/drawingml/2006/table">
            <a:tbl>
              <a:tblPr/>
              <a:tblGrid>
                <a:gridCol w="480717"/>
                <a:gridCol w="2692018"/>
                <a:gridCol w="480717"/>
                <a:gridCol w="2692018"/>
                <a:gridCol w="556935"/>
                <a:gridCol w="480717"/>
                <a:gridCol w="480717"/>
              </a:tblGrid>
              <a:tr h="0">
                <a:tc>
                  <a:txBody>
                    <a:bodyPr/>
                    <a:lstStyle/>
                    <a:p>
                      <a:pPr indent="0" marL="0">
                        <a:buNone/>
                      </a:pPr>
                      <a:r>
                        <a:rPr lang="en-US" sz="700" b="1" dirty="0">
                          <a:solidFill>
                            <a:srgbClr val="FFFFFF"/>
                          </a:solidFill>
                        </a:rPr>
                        <a: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File Name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Fund</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Investor</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Executed Date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Provisions</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Obligations</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19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X, L.P. - Citibanamex - Side Letter (2022-11-01)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CIBanco, S.A., Institución de Banca Múltiple solely in its capacity as Trustee</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48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20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27 - AIF X - Side Letter - ASP 2022 Aspire I LP (AlpInvest)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ASP 2022 Aspire I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59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4" name="Text 1"/>
          <p:cNvSpPr/>
          <p:nvPr/>
        </p:nvSpPr>
        <p:spPr>
          <a:xfrm>
            <a:off x="640080" y="2871216"/>
            <a:ext cx="7863840" cy="0"/>
          </a:xfrm>
          <a:prstGeom prst="rect">
            <a:avLst/>
          </a:prstGeom>
          <a:noFill/>
          <a:ln/>
        </p:spPr>
        <p:txBody>
          <a:bodyPr wrap="square" rtlCol="0" anchor="ctr"/>
          <a:lstStyle/>
          <a:p>
            <a:pPr indent="0" marL="0">
              <a:buNone/>
            </a:pPr>
            <a:r>
              <a:rPr lang="en-US" sz="1000" dirty="0">
                <a:solidFill>
                  <a:srgbClr val="1C2434"/>
                </a:solidFill>
              </a:rPr>
              <a:t>Total: 20 documents</a:t>
            </a:r>
            <a:endParaRPr lang="en-US" sz="1000" dirty="0"/>
          </a:p>
        </p:txBody>
      </p:sp>
      <p:sp>
        <p:nvSpPr>
          <p:cNvPr id="5" name="Text 2"/>
          <p:cNvSpPr/>
          <p:nvPr/>
        </p:nvSpPr>
        <p:spPr>
          <a:xfrm>
            <a:off x="731520" y="3348899"/>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6" name="Text 3"/>
          <p:cNvSpPr/>
          <p:nvPr/>
        </p:nvSpPr>
        <p:spPr>
          <a:xfrm>
            <a:off x="731520" y="3614075"/>
            <a:ext cx="7772400" cy="0"/>
          </a:xfrm>
          <a:prstGeom prst="rect">
            <a:avLst/>
          </a:prstGeom>
          <a:noFill/>
          <a:ln/>
        </p:spPr>
        <p:txBody>
          <a:bodyPr wrap="square" rtlCol="0" anchor="ctr"/>
          <a:lstStyle/>
          <a:p>
            <a:pPr indent="0" marL="0">
              <a:buNone/>
            </a:pPr>
            <a:r>
              <a:rPr lang="en-US" sz="800" dirty="0">
                <a:solidFill>
                  <a:srgbClr val="6B7280"/>
                </a:solidFill>
              </a:rPr>
              <a:t>1/13/2026, 3:34:24 PM</a:t>
            </a:r>
            <a:endParaRPr lang="en-US" sz="800" dirty="0"/>
          </a:p>
        </p:txBody>
      </p:sp>
      <p:sp>
        <p:nvSpPr>
          <p:cNvPr id="7" name="Text 4"/>
          <p:cNvSpPr/>
          <p:nvPr/>
        </p:nvSpPr>
        <p:spPr>
          <a:xfrm>
            <a:off x="640080" y="3879251"/>
            <a:ext cx="7863840" cy="0"/>
          </a:xfrm>
          <a:prstGeom prst="rect">
            <a:avLst/>
          </a:prstGeom>
          <a:noFill/>
          <a:ln/>
        </p:spPr>
        <p:txBody>
          <a:bodyPr wrap="square" rtlCol="0" anchor="ctr"/>
          <a:lstStyle/>
          <a:p>
            <a:pPr indent="0" marL="0">
              <a:buNone/>
            </a:pPr>
            <a:r>
              <a:rPr lang="en-US" sz="1000" dirty="0">
                <a:solidFill>
                  <a:srgbClr val="1C2434"/>
                </a:solidFill>
              </a:rPr>
              <a:t>Do all 20 listed side letters contain both withholding tax and investment policy provisions?</a:t>
            </a:r>
            <a:endParaRPr lang="en-US" sz="1000" dirty="0"/>
          </a:p>
        </p:txBody>
      </p:sp>
      <p:sp>
        <p:nvSpPr>
          <p:cNvPr id="8" name="Text 5"/>
          <p:cNvSpPr/>
          <p:nvPr/>
        </p:nvSpPr>
        <p:spPr>
          <a:xfrm>
            <a:off x="731520" y="4890211"/>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9" name="Text 6"/>
          <p:cNvSpPr/>
          <p:nvPr/>
        </p:nvSpPr>
        <p:spPr>
          <a:xfrm>
            <a:off x="731520" y="5155387"/>
            <a:ext cx="7772400" cy="0"/>
          </a:xfrm>
          <a:prstGeom prst="rect">
            <a:avLst/>
          </a:prstGeom>
          <a:noFill/>
          <a:ln/>
        </p:spPr>
        <p:txBody>
          <a:bodyPr wrap="square" rtlCol="0" anchor="ctr"/>
          <a:lstStyle/>
          <a:p>
            <a:pPr indent="0" marL="0">
              <a:buNone/>
            </a:pPr>
            <a:r>
              <a:rPr lang="en-US" sz="800" dirty="0">
                <a:solidFill>
                  <a:srgbClr val="6B7280"/>
                </a:solidFill>
              </a:rPr>
              <a:t>1/13/2026, 3:34:41 PM</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Based on the search results, here is the analysis of which side letters contain both withholding tax AND investment policy provisions:</a:t>
            </a:r>
            <a:endParaRPr lang="en-US" sz="1000" dirty="0"/>
          </a:p>
        </p:txBody>
      </p:sp>
      <p:sp>
        <p:nvSpPr>
          <p:cNvPr id="3" name="Text 1"/>
          <p:cNvSpPr/>
          <p:nvPr/>
        </p:nvSpPr>
        <p:spPr>
          <a:xfrm>
            <a:off x="640080" y="1622511"/>
            <a:ext cx="7863840" cy="0"/>
          </a:xfrm>
          <a:prstGeom prst="rect">
            <a:avLst/>
          </a:prstGeom>
          <a:noFill/>
          <a:ln/>
        </p:spPr>
        <p:txBody>
          <a:bodyPr wrap="square" rtlCol="0" anchor="ctr"/>
          <a:lstStyle/>
          <a:p>
            <a:pPr indent="0" marL="0">
              <a:buNone/>
            </a:pPr>
            <a:r>
              <a:rPr lang="en-US" sz="1700" b="1" dirty="0">
                <a:solidFill>
                  <a:srgbClr val="1C2434"/>
                </a:solidFill>
              </a:rPr>
              <a:t>Side Letters with Both Withholding Tax and Investment Policy Provisions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365760"/>
          <a:ext cx="7863840" cy="914400"/>
        </p:xfrm>
        <a:graphic>
          <a:graphicData uri="http://schemas.openxmlformats.org/drawingml/2006/table">
            <a:tbl>
              <a:tblPr/>
              <a:tblGrid>
                <a:gridCol w="574305"/>
                <a:gridCol w="3216110"/>
                <a:gridCol w="1527534"/>
                <a:gridCol w="1731205"/>
                <a:gridCol w="814685"/>
              </a:tblGrid>
              <a:tr h="0">
                <a:tc>
                  <a:txBody>
                    <a:bodyPr/>
                    <a:lstStyle/>
                    <a:p>
                      <a:pPr indent="0" marL="0">
                        <a:buNone/>
                      </a:pPr>
                      <a:r>
                        <a:rPr lang="en-US" sz="700" b="1" dirty="0">
                          <a:solidFill>
                            <a:srgbClr val="FFFFFF"/>
                          </a:solidFill>
                        </a:rPr>
                        <a: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Side Letter</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Withholding Tax</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Investment Policy</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Has Both</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Brighthouse</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Virginia Retirement System</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San Antonio Fire &amp; Police</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(Lux) X - Varma Mutual Pension</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SP Touchdown Acquisitions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Maryland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IX - Menora Mivtachim</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Hybrid Value - Public Pension Agency Saudi Arabia</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Aligned Alternatives - Sumitomo Mitsui Trust Bank</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IX - Kuwait Investment Authority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(DE 892) X - Keva</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NewVest Vintage 2022 Aggregator</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NYC BERS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Investment Fund X - NYC Fire Dep't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(DE) X - Phoenix Insurance Company Ltd.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IPCC - MassMutual-Ascend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TRS of Illinois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(Lux) X - Stichting Juridisch Eigenaar Aureus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No</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700" i="1" dirty="0">
                <a:solidFill>
                  <a:srgbClr val="6B7280"/>
                </a:solidFill>
              </a:rPr>
              <a:t>(continued)</a:t>
            </a:r>
            <a:endParaRPr lang="en-US" sz="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548640"/>
          <a:ext cx="7863840" cy="914400"/>
        </p:xfrm>
        <a:graphic>
          <a:graphicData uri="http://schemas.openxmlformats.org/drawingml/2006/table">
            <a:tbl>
              <a:tblPr/>
              <a:tblGrid>
                <a:gridCol w="524597"/>
                <a:gridCol w="2937744"/>
                <a:gridCol w="1650562"/>
                <a:gridCol w="1870637"/>
                <a:gridCol w="880300"/>
              </a:tblGrid>
              <a:tr h="0">
                <a:tc>
                  <a:txBody>
                    <a:bodyPr/>
                    <a:lstStyle/>
                    <a:p>
                      <a:pPr indent="0" marL="0">
                        <a:buNone/>
                      </a:pPr>
                      <a:r>
                        <a:rPr lang="en-US" sz="700" b="1" dirty="0">
                          <a:solidFill>
                            <a:srgbClr val="FFFFFF"/>
                          </a:solidFill>
                        </a:rPr>
                        <a: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Side Letter</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Withholding Tax</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Investment Policy</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Has Both</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19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X - Citibanamex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20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ASP 2022 Aspire I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Yes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4" name="Text 1"/>
          <p:cNvSpPr/>
          <p:nvPr/>
        </p:nvSpPr>
        <p:spPr>
          <a:xfrm>
            <a:off x="640080" y="1967789"/>
            <a:ext cx="7863840" cy="0"/>
          </a:xfrm>
          <a:prstGeom prst="rect">
            <a:avLst/>
          </a:prstGeom>
          <a:noFill/>
          <a:ln/>
        </p:spPr>
        <p:txBody>
          <a:bodyPr wrap="square" rtlCol="0" anchor="ctr"/>
          <a:lstStyle/>
          <a:p>
            <a:pPr indent="0" marL="0">
              <a:buNone/>
            </a:pPr>
            <a:r>
              <a:rPr lang="en-US" sz="1700" b="1" dirty="0">
                <a:solidFill>
                  <a:srgbClr val="1C2434"/>
                </a:solidFill>
              </a:rPr>
              <a:t>Summary</a:t>
            </a:r>
            <a:endParaRPr lang="en-US" sz="1700" dirty="0"/>
          </a:p>
        </p:txBody>
      </p:sp>
      <p:sp>
        <p:nvSpPr>
          <p:cNvPr id="5" name="Text 2"/>
          <p:cNvSpPr/>
          <p:nvPr/>
        </p:nvSpPr>
        <p:spPr>
          <a:xfrm>
            <a:off x="640080" y="2434499"/>
            <a:ext cx="7863840" cy="0"/>
          </a:xfrm>
          <a:prstGeom prst="rect">
            <a:avLst/>
          </a:prstGeom>
          <a:noFill/>
          <a:ln/>
        </p:spPr>
        <p:txBody>
          <a:bodyPr wrap="square" rtlCol="0" anchor="ctr"/>
          <a:lstStyle/>
          <a:p>
            <a:pPr indent="0" marL="0">
              <a:buNone/>
            </a:pPr>
            <a:r>
              <a:rPr lang="en-US" sz="1000" dirty="0">
                <a:solidFill>
                  <a:srgbClr val="1C2434"/>
                </a:solidFill>
              </a:rPr>
              <a:t>No - not all 20 side letters contain both provisions.</a:t>
            </a:r>
            <a:endParaRPr lang="en-US" sz="1000" dirty="0"/>
          </a:p>
        </p:txBody>
      </p:sp>
      <p:sp>
        <p:nvSpPr>
          <p:cNvPr id="6" name="Text 3"/>
          <p:cNvSpPr/>
          <p:nvPr/>
        </p:nvSpPr>
        <p:spPr>
          <a:xfrm>
            <a:off x="822960" y="3112252"/>
            <a:ext cx="7680960" cy="0"/>
          </a:xfrm>
          <a:prstGeom prst="rect">
            <a:avLst/>
          </a:prstGeom>
          <a:noFill/>
          <a:ln/>
        </p:spPr>
        <p:txBody>
          <a:bodyPr wrap="square" rtlCol="0" anchor="ctr"/>
          <a:lstStyle/>
          <a:p>
            <a:pPr marL="342900" indent="-342900">
              <a:buSzPct val="100000"/>
              <a:buChar char="•"/>
            </a:pPr>
            <a:r>
              <a:rPr lang="en-US" sz="1000" dirty="0">
                <a:solidFill>
                  <a:srgbClr val="1C2434"/>
                </a:solidFill>
              </a:rPr>
              <a:t>19 of 20 side letters contain both withholding tax and investment policy provisions</a:t>
            </a:r>
            <a:pPr indent="0" marL="0">
              <a:buNone/>
            </a:pPr>
            <a:r>
              <a:rPr lang="en-US" sz="1000" dirty="0">
                <a:solidFill>
                  <a:srgbClr val="1C2434"/>
                </a:solidFill>
              </a:rPr>
              <a:t>1 side letter (AOP (Lux) X - Stichting Juridisch Eigenaar Aureus Vintage Program) contains withholding tax provisions but does not contain investment policy provisions</a:t>
            </a:r>
            <a:endParaRPr lang="en-US" sz="1000" dirty="0"/>
          </a:p>
        </p:txBody>
      </p:sp>
      <p:sp>
        <p:nvSpPr>
          <p:cNvPr id="7" name="Text 4"/>
          <p:cNvSpPr/>
          <p:nvPr/>
        </p:nvSpPr>
        <p:spPr>
          <a:xfrm>
            <a:off x="731520" y="5209520"/>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800" dirty="0">
                <a:solidFill>
                  <a:srgbClr val="6B7280"/>
                </a:solidFill>
              </a:rPr>
              <a:t>1/13/2026, 3:35:52 PM</a:t>
            </a:r>
            <a:endParaRPr lang="en-US" sz="800" dirty="0"/>
          </a:p>
        </p:txBody>
      </p:sp>
      <p:sp>
        <p:nvSpPr>
          <p:cNvPr id="3" name="Text 1"/>
          <p:cNvSpPr/>
          <p:nvPr/>
        </p:nvSpPr>
        <p:spPr>
          <a:xfrm>
            <a:off x="640080" y="630936"/>
            <a:ext cx="7863840" cy="0"/>
          </a:xfrm>
          <a:prstGeom prst="rect">
            <a:avLst/>
          </a:prstGeom>
          <a:noFill/>
          <a:ln/>
        </p:spPr>
        <p:txBody>
          <a:bodyPr wrap="square" rtlCol="0" anchor="ctr"/>
          <a:lstStyle/>
          <a:p>
            <a:pPr indent="0" marL="0">
              <a:buNone/>
            </a:pPr>
            <a:r>
              <a:rPr lang="en-US" sz="1000" dirty="0">
                <a:solidFill>
                  <a:srgbClr val="1C2434"/>
                </a:solidFill>
              </a:rPr>
              <a:t>Can you please provide me 20 side letters that have either withholding tax or investment policy provisions</a:t>
            </a:r>
            <a:endParaRPr lang="en-US" sz="1000" dirty="0"/>
          </a:p>
        </p:txBody>
      </p:sp>
      <p:sp>
        <p:nvSpPr>
          <p:cNvPr id="4" name="Text 2"/>
          <p:cNvSpPr/>
          <p:nvPr/>
        </p:nvSpPr>
        <p:spPr>
          <a:xfrm>
            <a:off x="731520" y="1819656"/>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5" name="Text 3"/>
          <p:cNvSpPr/>
          <p:nvPr/>
        </p:nvSpPr>
        <p:spPr>
          <a:xfrm>
            <a:off x="731520" y="2084832"/>
            <a:ext cx="7772400" cy="0"/>
          </a:xfrm>
          <a:prstGeom prst="rect">
            <a:avLst/>
          </a:prstGeom>
          <a:noFill/>
          <a:ln/>
        </p:spPr>
        <p:txBody>
          <a:bodyPr wrap="square" rtlCol="0" anchor="ctr"/>
          <a:lstStyle/>
          <a:p>
            <a:pPr indent="0" marL="0">
              <a:buNone/>
            </a:pPr>
            <a:r>
              <a:rPr lang="en-US" sz="800" dirty="0">
                <a:solidFill>
                  <a:srgbClr val="6B7280"/>
                </a:solidFill>
              </a:rPr>
              <a:t>1/13/2026, 3:36:05 PM</a:t>
            </a:r>
            <a:endParaRPr lang="en-US" sz="800" dirty="0"/>
          </a:p>
        </p:txBody>
      </p:sp>
      <p:sp>
        <p:nvSpPr>
          <p:cNvPr id="6" name="Text 4"/>
          <p:cNvSpPr/>
          <p:nvPr/>
        </p:nvSpPr>
        <p:spPr>
          <a:xfrm>
            <a:off x="640080" y="2350008"/>
            <a:ext cx="7863840" cy="0"/>
          </a:xfrm>
          <a:prstGeom prst="rect">
            <a:avLst/>
          </a:prstGeom>
          <a:noFill/>
          <a:ln/>
        </p:spPr>
        <p:txBody>
          <a:bodyPr wrap="square" rtlCol="0" anchor="ctr"/>
          <a:lstStyle/>
          <a:p>
            <a:pPr indent="0" marL="0">
              <a:buNone/>
            </a:pPr>
            <a:r>
              <a:rPr lang="en-US" sz="1000" dirty="0">
                <a:solidFill>
                  <a:srgbClr val="1C2434"/>
                </a:solidFill>
              </a:rPr>
              <a:t>I need to search for side letters containing either withholding tax provisions or investment policy provisions.</a:t>
            </a:r>
            <a:endParaRPr lang="en-US" sz="1000" dirty="0"/>
          </a:p>
        </p:txBody>
      </p:sp>
      <p:sp>
        <p:nvSpPr>
          <p:cNvPr id="7" name="Text 5"/>
          <p:cNvSpPr/>
          <p:nvPr/>
        </p:nvSpPr>
        <p:spPr>
          <a:xfrm>
            <a:off x="640080" y="3205521"/>
            <a:ext cx="7863840" cy="0"/>
          </a:xfrm>
          <a:prstGeom prst="rect">
            <a:avLst/>
          </a:prstGeom>
          <a:noFill/>
          <a:ln/>
        </p:spPr>
        <p:txBody>
          <a:bodyPr wrap="square" rtlCol="0" anchor="ctr"/>
          <a:lstStyle/>
          <a:p>
            <a:pPr indent="0" marL="0">
              <a:buNone/>
            </a:pPr>
            <a:r>
              <a:rPr lang="en-US" sz="1000" dirty="0">
                <a:solidFill>
                  <a:srgbClr val="1C2434"/>
                </a:solidFill>
              </a:rPr>
              <a:t>Based on the search results, here are 20 side letters containing either withholding tax or investment policy provisions:</a:t>
            </a:r>
            <a:endParaRPr lang="en-US" sz="1000" dirty="0"/>
          </a:p>
        </p:txBody>
      </p:sp>
      <p:sp>
        <p:nvSpPr>
          <p:cNvPr id="8" name="Text 6"/>
          <p:cNvSpPr/>
          <p:nvPr/>
        </p:nvSpPr>
        <p:spPr>
          <a:xfrm>
            <a:off x="640080" y="4284513"/>
            <a:ext cx="7863840" cy="0"/>
          </a:xfrm>
          <a:prstGeom prst="rect">
            <a:avLst/>
          </a:prstGeom>
          <a:noFill/>
          <a:ln/>
        </p:spPr>
        <p:txBody>
          <a:bodyPr wrap="square" rtlCol="0" anchor="ctr"/>
          <a:lstStyle/>
          <a:p>
            <a:pPr indent="0" marL="0">
              <a:buNone/>
            </a:pPr>
            <a:r>
              <a:rPr lang="en-US" sz="1700" b="1" dirty="0">
                <a:solidFill>
                  <a:srgbClr val="1C2434"/>
                </a:solidFill>
              </a:rPr>
              <a:t>Side Letters with Withholding Tax or Investment Policy Provisions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365760"/>
          <a:ext cx="7863840" cy="914400"/>
        </p:xfrm>
        <a:graphic>
          <a:graphicData uri="http://schemas.openxmlformats.org/drawingml/2006/table">
            <a:tbl>
              <a:tblPr/>
              <a:tblGrid>
                <a:gridCol w="482768"/>
                <a:gridCol w="2703498"/>
                <a:gridCol w="979027"/>
                <a:gridCol w="2538219"/>
                <a:gridCol w="543904"/>
                <a:gridCol w="616425"/>
              </a:tblGrid>
              <a:tr h="0">
                <a:tc>
                  <a:txBody>
                    <a:bodyPr/>
                    <a:lstStyle/>
                    <a:p>
                      <a:pPr indent="0" marL="0">
                        <a:buNone/>
                      </a:pPr>
                      <a:r>
                        <a:rPr lang="en-US" sz="700" b="1" dirty="0">
                          <a:solidFill>
                            <a:srgbClr val="FFFFFF"/>
                          </a:solidFill>
                        </a:rPr>
                        <a: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File Name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Fund</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Investor</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Withholding Tax</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Investment Policy</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Side Letter - Brighthouse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Brighthouse Life Insurance Company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Side Letter - Virginia Retirement System (VRS)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Virginia Retirement System</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87 - AIF X - Side Letter - San Antonio Fire &amp; Police (Executed)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Fire and Police Pension Fund, San Antonio</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(Lux) X - Side Letter - Varma Mutual Pension Insurance Company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Varma Mutual Pension Insurance Company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163 - AIF X - Side Letter - SP Touchdown Acquisitions L.P. (GVS)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SP Touchdown Acquisitions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38 - AIF X - Side Letter - Maryland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Board of Trustees for the Maryland State Retirement and Pension System</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IX, L.P. - Side Letter - Menora Mivtachim Investments in P.E. Funds,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IX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Menora Mivtachim Investments in P.E. Funds, Limited Partnership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Hybrid Value Overseas Partners (Delaware 892), L.P. - Side Letter - Public Pension Agency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Hybrid Value Fund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Public Pension Agency of the Kingdom of Saudi Arabia</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Aligned Alternatives (C &amp; C-2), L.P. - Side Letter (Sumitomo Mitsui Trust Bank, Limited)...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Aligned Alternatives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Sumitomo Mitsui Trust Bank, Limited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(Delaware 892) IX, L.P. - Side Letter - Kuwait Investment Authority (20...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IX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Kuwait Investment Authority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(DE 892) X - Side Letter - Keva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Keva</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139 - AIF X - Side Letter - NewVest Vintage 2022 Aggregator (PE 50) LP. (2023-03-30)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NewVest Vintage 2022 Aggregator (PE 50)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37 - AIF X - Side Letter (NYC BERS) (2023-03-30)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The Board of Education Retirement System of the City of New York</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14</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Investment Fund X, L.P. - Side Letter (NYC Fire Dep't) (2023-03-30)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New York City Fire Department Pension Fund</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(DE) X - Side Letter - The Phoenix Insurance Company Ltd. (Nostro) (2023-06-30)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The Phoenix Insurance Company Ltd. (Nostro)</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IPCC - MassMutual-Ascend Side Letter (Execution version)</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IPCC Fund,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Massachusetts Mutual Life Insurance Company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17</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AIF X - Side Letter - TRS of Illinois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Teacher's Retirement System of the State of Illinois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18</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AOP (Lux) X - Side Letter - Stichting Juridisch Eigenaar Aureus Vintage Program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Stichting Juridisch Eigenaar Aureus Vintage Program 2022</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700" i="1" dirty="0">
                <a:solidFill>
                  <a:srgbClr val="6B7280"/>
                </a:solidFill>
              </a:rPr>
              <a:t>(continued)</a:t>
            </a:r>
            <a:endParaRPr lang="en-US" sz="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548640"/>
          <a:ext cx="7863840" cy="914400"/>
        </p:xfrm>
        <a:graphic>
          <a:graphicData uri="http://schemas.openxmlformats.org/drawingml/2006/table">
            <a:tbl>
              <a:tblPr/>
              <a:tblGrid>
                <a:gridCol w="493770"/>
                <a:gridCol w="2765113"/>
                <a:gridCol w="493770"/>
                <a:gridCol w="2380161"/>
                <a:gridCol w="811418"/>
                <a:gridCol w="919608"/>
              </a:tblGrid>
              <a:tr h="0">
                <a:tc>
                  <a:txBody>
                    <a:bodyPr/>
                    <a:lstStyle/>
                    <a:p>
                      <a:pPr indent="0" marL="0">
                        <a:buNone/>
                      </a:pPr>
                      <a:r>
                        <a:rPr lang="en-US" sz="700" b="1" dirty="0">
                          <a:solidFill>
                            <a:srgbClr val="FFFFFF"/>
                          </a:solidFill>
                        </a:rPr>
                        <a: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File Name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Fund</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Investor</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Withholding Tax</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Investment Policy</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19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Apollo Overseas Partners X, L.P. - Citibanamex - Side Letter (2022-11-01)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CIBanco, S.A., Institución de Banca Múltiple</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20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27 - AIF X - Side Letter - ASP 2022 Aspire I LP (AlpInvest) (2022-07-21)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Fund X</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ASP 2022 Aspire I LP</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4" name="Text 1"/>
          <p:cNvSpPr/>
          <p:nvPr/>
        </p:nvSpPr>
        <p:spPr>
          <a:xfrm>
            <a:off x="640080" y="2757830"/>
            <a:ext cx="7863840" cy="0"/>
          </a:xfrm>
          <a:prstGeom prst="rect">
            <a:avLst/>
          </a:prstGeom>
          <a:noFill/>
          <a:ln/>
        </p:spPr>
        <p:txBody>
          <a:bodyPr wrap="square" rtlCol="0" anchor="ctr"/>
          <a:lstStyle/>
          <a:p>
            <a:pPr indent="0" marL="0">
              <a:buNone/>
            </a:pPr>
            <a:r>
              <a:rPr lang="en-US" sz="1700" b="1" dirty="0">
                <a:solidFill>
                  <a:srgbClr val="1C2434"/>
                </a:solidFill>
              </a:rPr>
              <a:t>Summary</a:t>
            </a:r>
            <a:endParaRPr lang="en-US" sz="17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40080" y="3224540"/>
          <a:ext cx="7863840" cy="914400"/>
        </p:xfrm>
        <a:graphic>
          <a:graphicData uri="http://schemas.openxmlformats.org/drawingml/2006/table">
            <a:tbl>
              <a:tblPr/>
              <a:tblGrid>
                <a:gridCol w="5012701"/>
                <a:gridCol w="2851139"/>
              </a:tblGrid>
              <a:tr h="0">
                <a:tc>
                  <a:txBody>
                    <a:bodyPr/>
                    <a:lstStyle/>
                    <a:p>
                      <a:pPr indent="0" marL="0">
                        <a:buNone/>
                      </a:pPr>
                      <a:r>
                        <a:rPr lang="en-US" sz="700" b="1" dirty="0">
                          <a:solidFill>
                            <a:srgbClr val="FFFFFF"/>
                          </a:solidFill>
                        </a:rPr>
                        <a:t>Provision Type</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Count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Withholding Tax Only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Investment Policy Only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Both Provisions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Total</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20</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Note: All 20 side letters contain withholding tax provisions. 19 of 20 also contain investment policy provisions. The sole exception is AOP (Lux) X - Stichting Juridisch Eigenaar Aureus Vintage Program, which contains withholding tax provisions but no investment policy provisions.</a:t>
            </a:r>
            <a:endParaRPr lang="en-US" sz="1000" dirty="0"/>
          </a:p>
        </p:txBody>
      </p:sp>
      <p:sp>
        <p:nvSpPr>
          <p:cNvPr id="3" name="Text 1"/>
          <p:cNvSpPr/>
          <p:nvPr/>
        </p:nvSpPr>
        <p:spPr>
          <a:xfrm>
            <a:off x="731520" y="2621036"/>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4" name="Text 2"/>
          <p:cNvSpPr/>
          <p:nvPr/>
        </p:nvSpPr>
        <p:spPr>
          <a:xfrm>
            <a:off x="731520" y="2886212"/>
            <a:ext cx="7772400" cy="0"/>
          </a:xfrm>
          <a:prstGeom prst="rect">
            <a:avLst/>
          </a:prstGeom>
          <a:noFill/>
          <a:ln/>
        </p:spPr>
        <p:txBody>
          <a:bodyPr wrap="square" rtlCol="0" anchor="ctr"/>
          <a:lstStyle/>
          <a:p>
            <a:pPr indent="0" marL="0">
              <a:buNone/>
            </a:pPr>
            <a:r>
              <a:rPr lang="en-US" sz="800" dirty="0">
                <a:solidFill>
                  <a:srgbClr val="6B7280"/>
                </a:solidFill>
              </a:rPr>
              <a:t>1/13/2026, 3:38:46 PM</a:t>
            </a:r>
            <a:endParaRPr lang="en-US" sz="800" dirty="0"/>
          </a:p>
        </p:txBody>
      </p:sp>
      <p:sp>
        <p:nvSpPr>
          <p:cNvPr id="5" name="Text 3"/>
          <p:cNvSpPr/>
          <p:nvPr/>
        </p:nvSpPr>
        <p:spPr>
          <a:xfrm>
            <a:off x="640080" y="3151388"/>
            <a:ext cx="7863840" cy="0"/>
          </a:xfrm>
          <a:prstGeom prst="rect">
            <a:avLst/>
          </a:prstGeom>
          <a:noFill/>
          <a:ln/>
        </p:spPr>
        <p:txBody>
          <a:bodyPr wrap="square" rtlCol="0" anchor="ctr"/>
          <a:lstStyle/>
          <a:p>
            <a:pPr indent="0" marL="0">
              <a:buNone/>
            </a:pPr>
            <a:r>
              <a:rPr lang="en-US" sz="1000" dirty="0">
                <a:solidFill>
                  <a:srgbClr val="1C2434"/>
                </a:solidFill>
              </a:rPr>
              <a:t>How many documents have provisions tagged as 'GP Rights' under 'Information Provision'?</a:t>
            </a:r>
            <a:endParaRPr lang="en-US" sz="1000" dirty="0"/>
          </a:p>
        </p:txBody>
      </p:sp>
      <p:sp>
        <p:nvSpPr>
          <p:cNvPr id="6" name="Text 4"/>
          <p:cNvSpPr/>
          <p:nvPr/>
        </p:nvSpPr>
        <p:spPr>
          <a:xfrm>
            <a:off x="731520" y="3984589"/>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7" name="Text 5"/>
          <p:cNvSpPr/>
          <p:nvPr/>
        </p:nvSpPr>
        <p:spPr>
          <a:xfrm>
            <a:off x="731520" y="4249765"/>
            <a:ext cx="7772400" cy="0"/>
          </a:xfrm>
          <a:prstGeom prst="rect">
            <a:avLst/>
          </a:prstGeom>
          <a:noFill/>
          <a:ln/>
        </p:spPr>
        <p:txBody>
          <a:bodyPr wrap="square" rtlCol="0" anchor="ctr"/>
          <a:lstStyle/>
          <a:p>
            <a:pPr indent="0" marL="0">
              <a:buNone/>
            </a:pPr>
            <a:r>
              <a:rPr lang="en-US" sz="800" dirty="0">
                <a:solidFill>
                  <a:srgbClr val="6B7280"/>
                </a:solidFill>
              </a:rPr>
              <a:t>1/13/2026, 3:39:14 PM</a:t>
            </a:r>
            <a:endParaRPr lang="en-US" sz="800" dirty="0"/>
          </a:p>
        </p:txBody>
      </p:sp>
      <p:sp>
        <p:nvSpPr>
          <p:cNvPr id="8" name="Text 6"/>
          <p:cNvSpPr/>
          <p:nvPr/>
        </p:nvSpPr>
        <p:spPr>
          <a:xfrm>
            <a:off x="640080" y="4514941"/>
            <a:ext cx="7863840" cy="0"/>
          </a:xfrm>
          <a:prstGeom prst="rect">
            <a:avLst/>
          </a:prstGeom>
          <a:noFill/>
          <a:ln/>
        </p:spPr>
        <p:txBody>
          <a:bodyPr wrap="square" rtlCol="0" anchor="ctr"/>
          <a:lstStyle/>
          <a:p>
            <a:pPr indent="0" marL="0">
              <a:buNone/>
            </a:pPr>
            <a:r>
              <a:rPr lang="en-US" sz="1000" dirty="0">
                <a:solidFill>
                  <a:srgbClr val="1C2434"/>
                </a:solidFill>
              </a:rPr>
              <a:t>212 documents have provisions tagged as 'GP Rights' under 'Information Provision'.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3" name="Text 1"/>
          <p:cNvSpPr/>
          <p:nvPr/>
        </p:nvSpPr>
        <p:spPr>
          <a:xfrm>
            <a:off x="731520" y="630936"/>
            <a:ext cx="7772400" cy="0"/>
          </a:xfrm>
          <a:prstGeom prst="rect">
            <a:avLst/>
          </a:prstGeom>
          <a:noFill/>
          <a:ln/>
        </p:spPr>
        <p:txBody>
          <a:bodyPr wrap="square" rtlCol="0" anchor="ctr"/>
          <a:lstStyle/>
          <a:p>
            <a:pPr indent="0" marL="0">
              <a:buNone/>
            </a:pPr>
            <a:r>
              <a:rPr lang="en-US" sz="800" dirty="0">
                <a:solidFill>
                  <a:srgbClr val="6B7280"/>
                </a:solidFill>
              </a:rPr>
              <a:t>1/13/2026, 3:44:59 PM</a:t>
            </a:r>
            <a:endParaRPr lang="en-US" sz="800" dirty="0"/>
          </a:p>
        </p:txBody>
      </p:sp>
      <p:sp>
        <p:nvSpPr>
          <p:cNvPr id="4" name="Text 2"/>
          <p:cNvSpPr/>
          <p:nvPr/>
        </p:nvSpPr>
        <p:spPr>
          <a:xfrm>
            <a:off x="640080" y="896112"/>
            <a:ext cx="7863840" cy="0"/>
          </a:xfrm>
          <a:prstGeom prst="rect">
            <a:avLst/>
          </a:prstGeom>
          <a:noFill/>
          <a:ln/>
        </p:spPr>
        <p:txBody>
          <a:bodyPr wrap="square" rtlCol="0" anchor="ctr"/>
          <a:lstStyle/>
          <a:p>
            <a:pPr indent="0" marL="0">
              <a:buNone/>
            </a:pPr>
            <a:r>
              <a:rPr lang="en-US" sz="1000" dirty="0">
                <a:solidFill>
                  <a:srgbClr val="1C2434"/>
                </a:solidFill>
              </a:rPr>
              <a:t>Search only the Information Provision section and count how many documents</a:t>
            </a:r>
            <a:endParaRPr lang="en-US" sz="1000" dirty="0"/>
          </a:p>
        </p:txBody>
      </p:sp>
      <p:sp>
        <p:nvSpPr>
          <p:cNvPr id="5" name="Text 3"/>
          <p:cNvSpPr/>
          <p:nvPr/>
        </p:nvSpPr>
        <p:spPr>
          <a:xfrm>
            <a:off x="731520" y="1729313"/>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6" name="Text 4"/>
          <p:cNvSpPr/>
          <p:nvPr/>
        </p:nvSpPr>
        <p:spPr>
          <a:xfrm>
            <a:off x="731520" y="1994489"/>
            <a:ext cx="7772400" cy="0"/>
          </a:xfrm>
          <a:prstGeom prst="rect">
            <a:avLst/>
          </a:prstGeom>
          <a:noFill/>
          <a:ln/>
        </p:spPr>
        <p:txBody>
          <a:bodyPr wrap="square" rtlCol="0" anchor="ctr"/>
          <a:lstStyle/>
          <a:p>
            <a:pPr indent="0" marL="0">
              <a:buNone/>
            </a:pPr>
            <a:r>
              <a:rPr lang="en-US" sz="800" dirty="0">
                <a:solidFill>
                  <a:srgbClr val="6B7280"/>
                </a:solidFill>
              </a:rPr>
              <a:t>1/13/2026, 3:45:11 PM</a:t>
            </a:r>
            <a:endParaRPr lang="en-US" sz="800" dirty="0"/>
          </a:p>
        </p:txBody>
      </p:sp>
      <p:sp>
        <p:nvSpPr>
          <p:cNvPr id="7" name="Text 5"/>
          <p:cNvSpPr/>
          <p:nvPr/>
        </p:nvSpPr>
        <p:spPr>
          <a:xfrm>
            <a:off x="640080" y="2259665"/>
            <a:ext cx="7863840" cy="0"/>
          </a:xfrm>
          <a:prstGeom prst="rect">
            <a:avLst/>
          </a:prstGeom>
          <a:noFill/>
          <a:ln/>
        </p:spPr>
        <p:txBody>
          <a:bodyPr wrap="square" rtlCol="0" anchor="ctr"/>
          <a:lstStyle/>
          <a:p>
            <a:pPr indent="0" marL="0">
              <a:buNone/>
            </a:pPr>
            <a:r>
              <a:rPr lang="en-US" sz="1000" dirty="0">
                <a:solidFill>
                  <a:srgbClr val="1C2434"/>
                </a:solidFill>
              </a:rPr>
              <a:t>I need to search for documents with provisions tagged as 'GP Rights' under the 'Information Provision' section.</a:t>
            </a:r>
            <a:endParaRPr lang="en-US" sz="1000" dirty="0"/>
          </a:p>
        </p:txBody>
      </p:sp>
      <p:sp>
        <p:nvSpPr>
          <p:cNvPr id="8" name="Text 6"/>
          <p:cNvSpPr/>
          <p:nvPr/>
        </p:nvSpPr>
        <p:spPr>
          <a:xfrm>
            <a:off x="640080" y="3292937"/>
            <a:ext cx="7863840" cy="0"/>
          </a:xfrm>
          <a:prstGeom prst="rect">
            <a:avLst/>
          </a:prstGeom>
          <a:noFill/>
          <a:ln/>
        </p:spPr>
        <p:txBody>
          <a:bodyPr wrap="square" rtlCol="0" anchor="ctr"/>
          <a:lstStyle/>
          <a:p>
            <a:pPr indent="0" marL="0">
              <a:buNone/>
            </a:pPr>
            <a:r>
              <a:rPr lang="en-US" sz="1000" dirty="0">
                <a:solidFill>
                  <a:srgbClr val="1C2434"/>
                </a:solidFill>
              </a:rPr>
              <a:t>Based on the search results:</a:t>
            </a:r>
            <a:endParaRPr lang="en-US" sz="1000" dirty="0"/>
          </a:p>
        </p:txBody>
      </p:sp>
      <p:sp>
        <p:nvSpPr>
          <p:cNvPr id="9" name="Text 7"/>
          <p:cNvSpPr/>
          <p:nvPr/>
        </p:nvSpPr>
        <p:spPr>
          <a:xfrm>
            <a:off x="640080" y="3792931"/>
            <a:ext cx="7863840" cy="0"/>
          </a:xfrm>
          <a:prstGeom prst="rect">
            <a:avLst/>
          </a:prstGeom>
          <a:noFill/>
          <a:ln/>
        </p:spPr>
        <p:txBody>
          <a:bodyPr wrap="square" rtlCol="0" anchor="ctr"/>
          <a:lstStyle/>
          <a:p>
            <a:pPr indent="0" marL="0">
              <a:buNone/>
            </a:pPr>
            <a:r>
              <a:rPr lang="en-US" sz="1000" dirty="0">
                <a:solidFill>
                  <a:srgbClr val="1C2434"/>
                </a:solidFill>
              </a:rPr>
              <a:t>212 documents have provisions tagged as 'GP Rights' under the 'Information Provision' section.</a:t>
            </a:r>
            <a:endParaRPr lang="en-US" sz="1000" dirty="0"/>
          </a:p>
        </p:txBody>
      </p:sp>
      <p:sp>
        <p:nvSpPr>
          <p:cNvPr id="10" name="Text 8"/>
          <p:cNvSpPr/>
          <p:nvPr/>
        </p:nvSpPr>
        <p:spPr>
          <a:xfrm>
            <a:off x="731520" y="4803892"/>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11" name="Text 9"/>
          <p:cNvSpPr/>
          <p:nvPr/>
        </p:nvSpPr>
        <p:spPr>
          <a:xfrm>
            <a:off x="731520" y="5069068"/>
            <a:ext cx="7772400" cy="0"/>
          </a:xfrm>
          <a:prstGeom prst="rect">
            <a:avLst/>
          </a:prstGeom>
          <a:noFill/>
          <a:ln/>
        </p:spPr>
        <p:txBody>
          <a:bodyPr wrap="square" rtlCol="0" anchor="ctr"/>
          <a:lstStyle/>
          <a:p>
            <a:pPr indent="0" marL="0">
              <a:buNone/>
            </a:pPr>
            <a:r>
              <a:rPr lang="en-US" sz="800" dirty="0">
                <a:solidFill>
                  <a:srgbClr val="6B7280"/>
                </a:solidFill>
              </a:rPr>
              <a:t>1/13/2026, 3:45:44 PM</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Search only the Information Provision section and count how many documents are tagged as GP Rights under that section.</a:t>
            </a:r>
            <a:endParaRPr lang="en-US" sz="1000" dirty="0"/>
          </a:p>
        </p:txBody>
      </p:sp>
      <p:sp>
        <p:nvSpPr>
          <p:cNvPr id="3" name="Text 1"/>
          <p:cNvSpPr/>
          <p:nvPr/>
        </p:nvSpPr>
        <p:spPr>
          <a:xfrm>
            <a:off x="731520" y="1554480"/>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4" name="Text 2"/>
          <p:cNvSpPr/>
          <p:nvPr/>
        </p:nvSpPr>
        <p:spPr>
          <a:xfrm>
            <a:off x="731520" y="1819656"/>
            <a:ext cx="7772400" cy="0"/>
          </a:xfrm>
          <a:prstGeom prst="rect">
            <a:avLst/>
          </a:prstGeom>
          <a:noFill/>
          <a:ln/>
        </p:spPr>
        <p:txBody>
          <a:bodyPr wrap="square" rtlCol="0" anchor="ctr"/>
          <a:lstStyle/>
          <a:p>
            <a:pPr indent="0" marL="0">
              <a:buNone/>
            </a:pPr>
            <a:r>
              <a:rPr lang="en-US" sz="800" dirty="0">
                <a:solidFill>
                  <a:srgbClr val="6B7280"/>
                </a:solidFill>
              </a:rPr>
              <a:t>1/13/2026, 3:46:03 PM</a:t>
            </a:r>
            <a:endParaRPr lang="en-US" sz="800" dirty="0"/>
          </a:p>
        </p:txBody>
      </p:sp>
      <p:sp>
        <p:nvSpPr>
          <p:cNvPr id="5" name="Text 3"/>
          <p:cNvSpPr/>
          <p:nvPr/>
        </p:nvSpPr>
        <p:spPr>
          <a:xfrm>
            <a:off x="640080" y="2084832"/>
            <a:ext cx="7863840" cy="0"/>
          </a:xfrm>
          <a:prstGeom prst="rect">
            <a:avLst/>
          </a:prstGeom>
          <a:noFill/>
          <a:ln/>
        </p:spPr>
        <p:txBody>
          <a:bodyPr wrap="square" rtlCol="0" anchor="ctr"/>
          <a:lstStyle/>
          <a:p>
            <a:pPr indent="0" marL="0">
              <a:buNone/>
            </a:pPr>
            <a:r>
              <a:rPr lang="en-US" sz="1000" dirty="0">
                <a:solidFill>
                  <a:srgbClr val="1C2434"/>
                </a:solidFill>
              </a:rPr>
              <a:t>GP Rights Documents in Information Provision Section</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2612258"/>
          <a:ext cx="7863840" cy="914400"/>
        </p:xfrm>
        <a:graphic>
          <a:graphicData uri="http://schemas.openxmlformats.org/drawingml/2006/table">
            <a:tbl>
              <a:tblPr/>
              <a:tblGrid>
                <a:gridCol w="5417059"/>
                <a:gridCol w="2446781"/>
              </a:tblGrid>
              <a:tr h="0">
                <a:tc>
                  <a:txBody>
                    <a:bodyPr/>
                    <a:lstStyle/>
                    <a:p>
                      <a:pPr indent="0" marL="0">
                        <a:buNone/>
                      </a:pPr>
                      <a:r>
                        <a:rPr lang="en-US" sz="700" b="1" dirty="0">
                          <a:solidFill>
                            <a:srgbClr val="FFFFFF"/>
                          </a:solidFill>
                        </a:rPr>
                        <a:t>Metric</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Count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Documents tagged as GP Rights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Text 4"/>
          <p:cNvSpPr/>
          <p:nvPr/>
        </p:nvSpPr>
        <p:spPr>
          <a:xfrm>
            <a:off x="640080" y="3332805"/>
            <a:ext cx="7863840" cy="0"/>
          </a:xfrm>
          <a:prstGeom prst="rect">
            <a:avLst/>
          </a:prstGeom>
          <a:noFill/>
          <a:ln/>
        </p:spPr>
        <p:txBody>
          <a:bodyPr wrap="square" rtlCol="0" anchor="ctr"/>
          <a:lstStyle/>
          <a:p>
            <a:pPr indent="0" marL="0">
              <a:buNone/>
            </a:pPr>
            <a:r>
              <a:rPr lang="en-US" sz="1000" dirty="0">
                <a:solidFill>
                  <a:srgbClr val="1C2434"/>
                </a:solidFill>
              </a:rPr>
              <a:t>Total: 13 side letters</a:t>
            </a:r>
            <a:endParaRPr lang="en-US" sz="1000" dirty="0"/>
          </a:p>
        </p:txBody>
      </p:sp>
      <p:sp>
        <p:nvSpPr>
          <p:cNvPr id="8" name="Text 5"/>
          <p:cNvSpPr/>
          <p:nvPr/>
        </p:nvSpPr>
        <p:spPr>
          <a:xfrm>
            <a:off x="731520" y="3810488"/>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9" name="Text 6"/>
          <p:cNvSpPr/>
          <p:nvPr/>
        </p:nvSpPr>
        <p:spPr>
          <a:xfrm>
            <a:off x="731520" y="4075664"/>
            <a:ext cx="7772400" cy="0"/>
          </a:xfrm>
          <a:prstGeom prst="rect">
            <a:avLst/>
          </a:prstGeom>
          <a:noFill/>
          <a:ln/>
        </p:spPr>
        <p:txBody>
          <a:bodyPr wrap="square" rtlCol="0" anchor="ctr"/>
          <a:lstStyle/>
          <a:p>
            <a:pPr indent="0" marL="0">
              <a:buNone/>
            </a:pPr>
            <a:r>
              <a:rPr lang="en-US" sz="800" dirty="0">
                <a:solidFill>
                  <a:srgbClr val="6B7280"/>
                </a:solidFill>
              </a:rPr>
              <a:t>1/13/2026, 3:47:23 PM</a:t>
            </a:r>
            <a:endParaRPr lang="en-US" sz="800" dirty="0"/>
          </a:p>
        </p:txBody>
      </p:sp>
      <p:sp>
        <p:nvSpPr>
          <p:cNvPr id="10" name="Text 7"/>
          <p:cNvSpPr/>
          <p:nvPr/>
        </p:nvSpPr>
        <p:spPr>
          <a:xfrm>
            <a:off x="640080" y="4340840"/>
            <a:ext cx="7863840" cy="0"/>
          </a:xfrm>
          <a:prstGeom prst="rect">
            <a:avLst/>
          </a:prstGeom>
          <a:noFill/>
          <a:ln/>
        </p:spPr>
        <p:txBody>
          <a:bodyPr wrap="square" rtlCol="0" anchor="ctr"/>
          <a:lstStyle/>
          <a:p>
            <a:pPr indent="0" marL="0">
              <a:buNone/>
            </a:pPr>
            <a:r>
              <a:rPr lang="en-US" sz="1000" dirty="0">
                <a:solidFill>
                  <a:srgbClr val="1C2434"/>
                </a:solidFill>
              </a:rPr>
              <a:t>Within the Information Provision Section only, how many documents are tagged as GP Rights?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3" name="Text 1"/>
          <p:cNvSpPr/>
          <p:nvPr/>
        </p:nvSpPr>
        <p:spPr>
          <a:xfrm>
            <a:off x="731520" y="630936"/>
            <a:ext cx="7772400" cy="0"/>
          </a:xfrm>
          <a:prstGeom prst="rect">
            <a:avLst/>
          </a:prstGeom>
          <a:noFill/>
          <a:ln/>
        </p:spPr>
        <p:txBody>
          <a:bodyPr wrap="square" rtlCol="0" anchor="ctr"/>
          <a:lstStyle/>
          <a:p>
            <a:pPr indent="0" marL="0">
              <a:buNone/>
            </a:pPr>
            <a:r>
              <a:rPr lang="en-US" sz="800" dirty="0">
                <a:solidFill>
                  <a:srgbClr val="6B7280"/>
                </a:solidFill>
              </a:rPr>
              <a:t>1/13/2026, 3:47:43 PM</a:t>
            </a:r>
            <a:endParaRPr lang="en-US" sz="800" dirty="0"/>
          </a:p>
        </p:txBody>
      </p:sp>
      <p:sp>
        <p:nvSpPr>
          <p:cNvPr id="4" name="Text 2"/>
          <p:cNvSpPr/>
          <p:nvPr/>
        </p:nvSpPr>
        <p:spPr>
          <a:xfrm>
            <a:off x="640080" y="896112"/>
            <a:ext cx="7863840" cy="0"/>
          </a:xfrm>
          <a:prstGeom prst="rect">
            <a:avLst/>
          </a:prstGeom>
          <a:noFill/>
          <a:ln/>
        </p:spPr>
        <p:txBody>
          <a:bodyPr wrap="square" rtlCol="0" anchor="ctr"/>
          <a:lstStyle/>
          <a:p>
            <a:pPr indent="0" marL="0">
              <a:buNone/>
            </a:pPr>
            <a:r>
              <a:rPr lang="en-US" sz="1000" dirty="0">
                <a:solidFill>
                  <a:srgbClr val="1C2434"/>
                </a:solidFill>
              </a:rPr>
              <a:t>13 side letters are tagged as GP Rights within the Information Provision Section.</a:t>
            </a:r>
            <a:endParaRPr lang="en-US" sz="1000" dirty="0"/>
          </a:p>
        </p:txBody>
      </p:sp>
      <p:sp>
        <p:nvSpPr>
          <p:cNvPr id="5" name="Text 3"/>
          <p:cNvSpPr/>
          <p:nvPr/>
        </p:nvSpPr>
        <p:spPr>
          <a:xfrm>
            <a:off x="731520" y="1907073"/>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6" name="Text 4"/>
          <p:cNvSpPr/>
          <p:nvPr/>
        </p:nvSpPr>
        <p:spPr>
          <a:xfrm>
            <a:off x="731520" y="2172249"/>
            <a:ext cx="7772400" cy="0"/>
          </a:xfrm>
          <a:prstGeom prst="rect">
            <a:avLst/>
          </a:prstGeom>
          <a:noFill/>
          <a:ln/>
        </p:spPr>
        <p:txBody>
          <a:bodyPr wrap="square" rtlCol="0" anchor="ctr"/>
          <a:lstStyle/>
          <a:p>
            <a:pPr indent="0" marL="0">
              <a:buNone/>
            </a:pPr>
            <a:r>
              <a:rPr lang="en-US" sz="800" dirty="0">
                <a:solidFill>
                  <a:srgbClr val="6B7280"/>
                </a:solidFill>
              </a:rPr>
              <a:t>1/13/2026, 3:47:56 PM</a:t>
            </a:r>
            <a:endParaRPr lang="en-US" sz="800" dirty="0"/>
          </a:p>
        </p:txBody>
      </p:sp>
      <p:sp>
        <p:nvSpPr>
          <p:cNvPr id="7" name="Text 5"/>
          <p:cNvSpPr/>
          <p:nvPr/>
        </p:nvSpPr>
        <p:spPr>
          <a:xfrm>
            <a:off x="640080" y="2437425"/>
            <a:ext cx="7863840" cy="0"/>
          </a:xfrm>
          <a:prstGeom prst="rect">
            <a:avLst/>
          </a:prstGeom>
          <a:noFill/>
          <a:ln/>
        </p:spPr>
        <p:txBody>
          <a:bodyPr wrap="square" rtlCol="0" anchor="ctr"/>
          <a:lstStyle/>
          <a:p>
            <a:pPr indent="0" marL="0">
              <a:buNone/>
            </a:pPr>
            <a:r>
              <a:rPr lang="en-US" sz="1000" dirty="0">
                <a:solidFill>
                  <a:srgbClr val="1C2434"/>
                </a:solidFill>
              </a:rPr>
              <a:t>How many documents have provisions tagged as 'GP Rights' under 'Information Provision'?</a:t>
            </a:r>
            <a:endParaRPr lang="en-US" sz="1000" dirty="0"/>
          </a:p>
        </p:txBody>
      </p:sp>
      <p:sp>
        <p:nvSpPr>
          <p:cNvPr id="8" name="Text 6"/>
          <p:cNvSpPr/>
          <p:nvPr/>
        </p:nvSpPr>
        <p:spPr>
          <a:xfrm>
            <a:off x="731520" y="3270626"/>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9" name="Text 7"/>
          <p:cNvSpPr/>
          <p:nvPr/>
        </p:nvSpPr>
        <p:spPr>
          <a:xfrm>
            <a:off x="731520" y="3535802"/>
            <a:ext cx="7772400" cy="0"/>
          </a:xfrm>
          <a:prstGeom prst="rect">
            <a:avLst/>
          </a:prstGeom>
          <a:noFill/>
          <a:ln/>
        </p:spPr>
        <p:txBody>
          <a:bodyPr wrap="square" rtlCol="0" anchor="ctr"/>
          <a:lstStyle/>
          <a:p>
            <a:pPr indent="0" marL="0">
              <a:buNone/>
            </a:pPr>
            <a:r>
              <a:rPr lang="en-US" sz="800" dirty="0">
                <a:solidFill>
                  <a:srgbClr val="6B7280"/>
                </a:solidFill>
              </a:rPr>
              <a:t>1/13/2026, 3:48:30 PM</a:t>
            </a:r>
            <a:endParaRPr lang="en-US" sz="800" dirty="0"/>
          </a:p>
        </p:txBody>
      </p:sp>
      <p:sp>
        <p:nvSpPr>
          <p:cNvPr id="10" name="Text 8"/>
          <p:cNvSpPr/>
          <p:nvPr/>
        </p:nvSpPr>
        <p:spPr>
          <a:xfrm>
            <a:off x="640080" y="3800978"/>
            <a:ext cx="7863840" cy="0"/>
          </a:xfrm>
          <a:prstGeom prst="rect">
            <a:avLst/>
          </a:prstGeom>
          <a:noFill/>
          <a:ln/>
        </p:spPr>
        <p:txBody>
          <a:bodyPr wrap="square" rtlCol="0" anchor="ctr"/>
          <a:lstStyle/>
          <a:p>
            <a:pPr indent="0" marL="0">
              <a:buNone/>
            </a:pPr>
            <a:r>
              <a:rPr lang="en-US" sz="1000" dirty="0">
                <a:solidFill>
                  <a:srgbClr val="1C2434"/>
                </a:solidFill>
              </a:rPr>
              <a:t>212 documents have provisions tagged as 'GP Rights' under 'Information Provision'.</a:t>
            </a:r>
            <a:endParaRPr lang="en-US" sz="1000" dirty="0"/>
          </a:p>
        </p:txBody>
      </p:sp>
      <p:sp>
        <p:nvSpPr>
          <p:cNvPr id="11" name="Text 9"/>
          <p:cNvSpPr/>
          <p:nvPr/>
        </p:nvSpPr>
        <p:spPr>
          <a:xfrm>
            <a:off x="731520" y="4634179"/>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12" name="Text 10"/>
          <p:cNvSpPr/>
          <p:nvPr/>
        </p:nvSpPr>
        <p:spPr>
          <a:xfrm>
            <a:off x="731520" y="4899355"/>
            <a:ext cx="7772400" cy="0"/>
          </a:xfrm>
          <a:prstGeom prst="rect">
            <a:avLst/>
          </a:prstGeom>
          <a:noFill/>
          <a:ln/>
        </p:spPr>
        <p:txBody>
          <a:bodyPr wrap="square" rtlCol="0" anchor="ctr"/>
          <a:lstStyle/>
          <a:p>
            <a:pPr indent="0" marL="0">
              <a:buNone/>
            </a:pPr>
            <a:r>
              <a:rPr lang="en-US" sz="800" dirty="0">
                <a:solidFill>
                  <a:srgbClr val="6B7280"/>
                </a:solidFill>
              </a:rPr>
              <a:t>1/13/2026, 3:55:55 PM</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40080" y="365760"/>
            <a:ext cx="7863840" cy="0"/>
          </a:xfrm>
          <a:prstGeom prst="rect">
            <a:avLst/>
          </a:prstGeom>
          <a:noFill/>
          <a:ln/>
        </p:spPr>
        <p:txBody>
          <a:bodyPr wrap="square" rtlCol="0" anchor="ctr"/>
          <a:lstStyle/>
          <a:p>
            <a:pPr indent="0" marL="0">
              <a:buNone/>
            </a:pPr>
            <a:r>
              <a:rPr lang="en-US" sz="1000" dirty="0">
                <a:solidFill>
                  <a:srgbClr val="1C2434"/>
                </a:solidFill>
              </a:rPr>
              <a:t>Can you give me a count for how many times each of the obligations under "Tax Exempt Investors" appear</a:t>
            </a:r>
            <a:endParaRPr lang="en-US" sz="1000" dirty="0"/>
          </a:p>
        </p:txBody>
      </p:sp>
      <p:sp>
        <p:nvSpPr>
          <p:cNvPr id="3" name="Text 1"/>
          <p:cNvSpPr/>
          <p:nvPr/>
        </p:nvSpPr>
        <p:spPr>
          <a:xfrm>
            <a:off x="731520" y="1554480"/>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4" name="Text 2"/>
          <p:cNvSpPr/>
          <p:nvPr/>
        </p:nvSpPr>
        <p:spPr>
          <a:xfrm>
            <a:off x="731520" y="1819656"/>
            <a:ext cx="7772400" cy="0"/>
          </a:xfrm>
          <a:prstGeom prst="rect">
            <a:avLst/>
          </a:prstGeom>
          <a:noFill/>
          <a:ln/>
        </p:spPr>
        <p:txBody>
          <a:bodyPr wrap="square" rtlCol="0" anchor="ctr"/>
          <a:lstStyle/>
          <a:p>
            <a:pPr indent="0" marL="0">
              <a:buNone/>
            </a:pPr>
            <a:r>
              <a:rPr lang="en-US" sz="800" dirty="0">
                <a:solidFill>
                  <a:srgbClr val="6B7280"/>
                </a:solidFill>
              </a:rPr>
              <a:t>1/13/2026, 3:56:15 PM</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2121408"/>
          <a:ext cx="7863840" cy="914400"/>
        </p:xfrm>
        <a:graphic>
          <a:graphicData uri="http://schemas.openxmlformats.org/drawingml/2006/table">
            <a:tbl>
              <a:tblPr/>
              <a:tblGrid>
                <a:gridCol w="5512344"/>
                <a:gridCol w="2351496"/>
              </a:tblGrid>
              <a:tr h="0">
                <a:tc>
                  <a:txBody>
                    <a:bodyPr/>
                    <a:lstStyle/>
                    <a:p>
                      <a:pPr indent="0" marL="0">
                        <a:buNone/>
                      </a:pPr>
                      <a:r>
                        <a:rPr lang="en-US" sz="700" b="1" dirty="0">
                          <a:solidFill>
                            <a:srgbClr val="FFFFFF"/>
                          </a:solidFill>
                        </a:rPr>
                        <a:t>Tax Exempt Investors Obligation</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c>
                  <a:txBody>
                    <a:bodyPr/>
                    <a:lstStyle/>
                    <a:p>
                      <a:pPr indent="0" marL="0">
                        <a:buNone/>
                      </a:pPr>
                      <a:r>
                        <a:rPr lang="en-US" sz="700" b="1" dirty="0">
                          <a:solidFill>
                            <a:srgbClr val="FFFFFF"/>
                          </a:solidFill>
                        </a:rPr>
                        <a:t>Count</a:t>
                      </a:r>
                      <a:endParaRPr lang="en-US" sz="70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473DBC"/>
                    </a:solidFill>
                  </a:tcPr>
                </a:tc>
              </a:tr>
              <a:tr h="0">
                <a:tc>
                  <a:txBody>
                    <a:bodyPr/>
                    <a:lstStyle/>
                    <a:p>
                      <a:pPr indent="0" marL="0">
                        <a:buNone/>
                      </a:pPr>
                      <a:r>
                        <a:rPr lang="en-US" sz="650" dirty="0">
                          <a:solidFill>
                            <a:srgbClr val="1C2434"/>
                          </a:solidFill>
                        </a:rPr>
                        <a:t>No US Tax Obligations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33</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Non-Taxable Entity</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19</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No ex-US Tax Obligations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16</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650" dirty="0">
                          <a:solidFill>
                            <a:srgbClr val="1C2434"/>
                          </a:solidFill>
                        </a:rPr>
                        <a:t>UBTI &amp; Blocker Vehicles</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650" dirty="0">
                          <a:solidFill>
                            <a:srgbClr val="1C2434"/>
                          </a:solidFill>
                        </a:rPr>
                        <a:t>5</a:t>
                      </a:r>
                      <a:endParaRPr lang="en-US" sz="650" dirty="0"/>
                    </a:p>
                  </a:txBody>
                  <a:tcPr marL="91440" marR="91440" marT="45720" marB="45720" anchor="t">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3401568"/>
            <a:ext cx="7863840" cy="0"/>
          </a:xfrm>
          <a:prstGeom prst="rect">
            <a:avLst/>
          </a:prstGeom>
          <a:noFill/>
          <a:ln/>
        </p:spPr>
        <p:txBody>
          <a:bodyPr wrap="square" rtlCol="0" anchor="ctr"/>
          <a:lstStyle/>
          <a:p>
            <a:pPr indent="0" marL="0">
              <a:buNone/>
            </a:pPr>
            <a:r>
              <a:rPr lang="en-US" sz="1000" dirty="0">
                <a:solidFill>
                  <a:srgbClr val="1C2434"/>
                </a:solidFill>
              </a:rPr>
              <a:t>Total: 73 obligations across 53 unique side letters</a:t>
            </a:r>
            <a:endParaRPr lang="en-US" sz="1000" dirty="0"/>
          </a:p>
        </p:txBody>
      </p:sp>
      <p:sp>
        <p:nvSpPr>
          <p:cNvPr id="7" name="Text 4"/>
          <p:cNvSpPr/>
          <p:nvPr/>
        </p:nvSpPr>
        <p:spPr>
          <a:xfrm>
            <a:off x="731520" y="4057010"/>
            <a:ext cx="7772400" cy="0"/>
          </a:xfrm>
          <a:prstGeom prst="rect">
            <a:avLst/>
          </a:prstGeom>
          <a:noFill/>
          <a:ln/>
        </p:spPr>
        <p:txBody>
          <a:bodyPr wrap="square" rtlCol="0" anchor="ctr"/>
          <a:lstStyle/>
          <a:p>
            <a:pPr indent="0" marL="0">
              <a:buNone/>
            </a:pPr>
            <a:r>
              <a:rPr lang="en-US" sz="1200" dirty="0">
                <a:solidFill>
                  <a:srgbClr val="0064C8"/>
                </a:solidFill>
              </a:rPr>
              <a:t>SA</a:t>
            </a:r>
            <a:endParaRPr lang="en-US" sz="1200" dirty="0"/>
          </a:p>
        </p:txBody>
      </p:sp>
      <p:sp>
        <p:nvSpPr>
          <p:cNvPr id="8" name="Text 5"/>
          <p:cNvSpPr/>
          <p:nvPr/>
        </p:nvSpPr>
        <p:spPr>
          <a:xfrm>
            <a:off x="731520" y="4322186"/>
            <a:ext cx="7772400" cy="0"/>
          </a:xfrm>
          <a:prstGeom prst="rect">
            <a:avLst/>
          </a:prstGeom>
          <a:noFill/>
          <a:ln/>
        </p:spPr>
        <p:txBody>
          <a:bodyPr wrap="square" rtlCol="0" anchor="ctr"/>
          <a:lstStyle/>
          <a:p>
            <a:pPr indent="0" marL="0">
              <a:buNone/>
            </a:pPr>
            <a:r>
              <a:rPr lang="en-US" sz="800" dirty="0">
                <a:solidFill>
                  <a:srgbClr val="6B7280"/>
                </a:solidFill>
              </a:rPr>
              <a:t>1/13/2026, 3:59:06 PM</a:t>
            </a:r>
            <a:endParaRPr lang="en-US" sz="800" dirty="0"/>
          </a:p>
        </p:txBody>
      </p:sp>
      <p:sp>
        <p:nvSpPr>
          <p:cNvPr id="9" name="Text 6"/>
          <p:cNvSpPr/>
          <p:nvPr/>
        </p:nvSpPr>
        <p:spPr>
          <a:xfrm>
            <a:off x="640080" y="4587362"/>
            <a:ext cx="7863840" cy="0"/>
          </a:xfrm>
          <a:prstGeom prst="rect">
            <a:avLst/>
          </a:prstGeom>
          <a:noFill/>
          <a:ln/>
        </p:spPr>
        <p:txBody>
          <a:bodyPr wrap="square" rtlCol="0" anchor="ctr"/>
          <a:lstStyle/>
          <a:p>
            <a:pPr indent="0" marL="0">
              <a:buNone/>
            </a:pPr>
            <a:r>
              <a:rPr lang="en-US" sz="1000" dirty="0">
                <a:solidFill>
                  <a:srgbClr val="1C2434"/>
                </a:solidFill>
              </a:rPr>
              <a:t>Can you tell me how many side letters have obligations for "UBTI &amp; Blocker Vehicles"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31520" y="365760"/>
            <a:ext cx="7772400" cy="0"/>
          </a:xfrm>
          <a:prstGeom prst="rect">
            <a:avLst/>
          </a:prstGeom>
          <a:noFill/>
          <a:ln/>
        </p:spPr>
        <p:txBody>
          <a:bodyPr wrap="square" rtlCol="0" anchor="ctr"/>
          <a:lstStyle/>
          <a:p>
            <a:pPr indent="0" marL="0">
              <a:buNone/>
            </a:pPr>
            <a:r>
              <a:rPr lang="en-US" sz="1200" dirty="0">
                <a:solidFill>
                  <a:srgbClr val="7C3AED"/>
                </a:solidFill>
              </a:rPr>
              <a:t>Alpha AI</a:t>
            </a:r>
            <a:endParaRPr lang="en-US" sz="1200" dirty="0"/>
          </a:p>
        </p:txBody>
      </p:sp>
      <p:sp>
        <p:nvSpPr>
          <p:cNvPr id="3" name="Text 1"/>
          <p:cNvSpPr/>
          <p:nvPr/>
        </p:nvSpPr>
        <p:spPr>
          <a:xfrm>
            <a:off x="731520" y="630936"/>
            <a:ext cx="7772400" cy="0"/>
          </a:xfrm>
          <a:prstGeom prst="rect">
            <a:avLst/>
          </a:prstGeom>
          <a:noFill/>
          <a:ln/>
        </p:spPr>
        <p:txBody>
          <a:bodyPr wrap="square" rtlCol="0" anchor="ctr"/>
          <a:lstStyle/>
          <a:p>
            <a:pPr indent="0" marL="0">
              <a:buNone/>
            </a:pPr>
            <a:r>
              <a:rPr lang="en-US" sz="800" dirty="0">
                <a:solidFill>
                  <a:srgbClr val="6B7280"/>
                </a:solidFill>
              </a:rPr>
              <a:t>1/13/2026, 3:59:25 PM</a:t>
            </a:r>
            <a:endParaRPr lang="en-US" sz="800" dirty="0"/>
          </a:p>
        </p:txBody>
      </p:sp>
      <p:sp>
        <p:nvSpPr>
          <p:cNvPr id="4" name="Text 2"/>
          <p:cNvSpPr/>
          <p:nvPr/>
        </p:nvSpPr>
        <p:spPr>
          <a:xfrm>
            <a:off x="640080" y="896112"/>
            <a:ext cx="7863840" cy="0"/>
          </a:xfrm>
          <a:prstGeom prst="rect">
            <a:avLst/>
          </a:prstGeom>
          <a:noFill/>
          <a:ln/>
        </p:spPr>
        <p:txBody>
          <a:bodyPr wrap="square" rtlCol="0" anchor="ctr"/>
          <a:lstStyle/>
          <a:p>
            <a:pPr indent="0" marL="0">
              <a:buNone/>
            </a:pPr>
            <a:r>
              <a:rPr lang="en-US" sz="1000" dirty="0">
                <a:solidFill>
                  <a:srgbClr val="1C2434"/>
                </a:solidFill>
              </a:rPr>
              <a:t>5 side letters have obligations for "UBTI &amp; Blocker Vehicles"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2026-01-13T10:33:37Z</dcterms:created>
  <dcterms:modified xsi:type="dcterms:W3CDTF">2026-01-13T10:33:37Z</dcterms:modified>
</cp:coreProperties>
</file>